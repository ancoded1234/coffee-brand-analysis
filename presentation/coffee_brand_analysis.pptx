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10"/>
  <c:chart>
    <c:autoTitleDeleted val="1"/>
    <c:plotArea>
      <c:layout/>
      <c:barChart>
        <c:barDir val="bar"/>
        <c:grouping val="clustered"/>
        <c:varyColors val="1"/>
        <c:ser>
          <c:idx val="0"/>
          <c:order val="0"/>
          <c:tx>
            <c:strRef>
              <c:f>Sheet1!$B$1</c:f>
              <c:strCache>
                <c:ptCount val="1"/>
                <c:pt idx="0">
                  <c:v>값</c:v>
                </c:pt>
              </c:strCache>
            </c:strRef>
          </c:tx>
          <c:invertIfNegative val="1"/>
          <c:dPt>
            <c:idx val="0"/>
            <c:invertIfNegative val="1"/>
            <c:bubble3D val="0"/>
            <c:spPr>
              <a:solidFill>
                <a:srgbClr val="754B36"/>
              </a:solidFill>
              <a:ln>
                <a:noFill/>
              </a:ln>
            </c:spPr>
            <c:extLst>
              <c:ext xmlns:c16="http://schemas.microsoft.com/office/drawing/2014/chart" uri="{C3380CC4-5D6E-409C-BE32-E72D297353CC}">
                <c16:uniqueId val="{00000001-DB19-4FEE-A503-C6518B5B9D06}"/>
              </c:ext>
            </c:extLst>
          </c:dPt>
          <c:dPt>
            <c:idx val="1"/>
            <c:invertIfNegative val="1"/>
            <c:bubble3D val="0"/>
            <c:spPr>
              <a:solidFill>
                <a:srgbClr val="754B36"/>
              </a:solidFill>
              <a:ln>
                <a:noFill/>
              </a:ln>
            </c:spPr>
            <c:extLst>
              <c:ext xmlns:c16="http://schemas.microsoft.com/office/drawing/2014/chart" uri="{C3380CC4-5D6E-409C-BE32-E72D297353CC}">
                <c16:uniqueId val="{00000003-DB19-4FEE-A503-C6518B5B9D06}"/>
              </c:ext>
            </c:extLst>
          </c:dPt>
          <c:dPt>
            <c:idx val="2"/>
            <c:invertIfNegative val="1"/>
            <c:bubble3D val="0"/>
            <c:spPr>
              <a:solidFill>
                <a:srgbClr val="754B36"/>
              </a:solidFill>
              <a:ln>
                <a:noFill/>
              </a:ln>
            </c:spPr>
            <c:extLst>
              <c:ext xmlns:c16="http://schemas.microsoft.com/office/drawing/2014/chart" uri="{C3380CC4-5D6E-409C-BE32-E72D297353CC}">
                <c16:uniqueId val="{00000005-DB19-4FEE-A503-C6518B5B9D06}"/>
              </c:ext>
            </c:extLst>
          </c:dPt>
          <c:dPt>
            <c:idx val="3"/>
            <c:invertIfNegative val="1"/>
            <c:bubble3D val="0"/>
            <c:spPr>
              <a:solidFill>
                <a:srgbClr val="63765D"/>
              </a:solidFill>
              <a:ln>
                <a:noFill/>
              </a:ln>
            </c:spPr>
            <c:extLst>
              <c:ext xmlns:c16="http://schemas.microsoft.com/office/drawing/2014/chart" uri="{C3380CC4-5D6E-409C-BE32-E72D297353CC}">
                <c16:uniqueId val="{00000007-DB19-4FEE-A503-C6518B5B9D06}"/>
              </c:ext>
            </c:extLst>
          </c:dPt>
          <c:dPt>
            <c:idx val="4"/>
            <c:invertIfNegative val="1"/>
            <c:bubble3D val="0"/>
            <c:spPr>
              <a:solidFill>
                <a:srgbClr val="63765D"/>
              </a:solidFill>
              <a:ln>
                <a:noFill/>
              </a:ln>
            </c:spPr>
            <c:extLst>
              <c:ext xmlns:c16="http://schemas.microsoft.com/office/drawing/2014/chart" uri="{C3380CC4-5D6E-409C-BE32-E72D297353CC}">
                <c16:uniqueId val="{00000009-DB19-4FEE-A503-C6518B5B9D06}"/>
              </c:ext>
            </c:extLst>
          </c:dPt>
          <c:dPt>
            <c:idx val="5"/>
            <c:invertIfNegative val="1"/>
            <c:bubble3D val="0"/>
            <c:spPr>
              <a:solidFill>
                <a:srgbClr val="63765D"/>
              </a:solidFill>
              <a:ln>
                <a:noFill/>
              </a:ln>
            </c:spPr>
            <c:extLst>
              <c:ext xmlns:c16="http://schemas.microsoft.com/office/drawing/2014/chart" uri="{C3380CC4-5D6E-409C-BE32-E72D297353CC}">
                <c16:uniqueId val="{0000000B-DB19-4FEE-A503-C6518B5B9D06}"/>
              </c:ext>
            </c:extLst>
          </c:dPt>
          <c:dLbls>
            <c:numFmt formatCode="#,##0" sourceLinked="0"/>
            <c:spPr>
              <a:noFill/>
              <a:ln>
                <a:noFill/>
              </a:ln>
              <a:effectLst/>
            </c:spPr>
            <c:txPr>
              <a:bodyPr/>
              <a:lstStyle/>
              <a:p>
                <a:pPr>
                  <a:defRPr sz="1300" b="1">
                    <a:solidFill>
                      <a:srgbClr val="30231D"/>
                    </a:solidFill>
                    <a:latin typeface="Aria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스타벅스</c:v>
                </c:pt>
                <c:pt idx="1">
                  <c:v>투썸플레이스</c:v>
                </c:pt>
                <c:pt idx="2">
                  <c:v>폴 바셋</c:v>
                </c:pt>
                <c:pt idx="3">
                  <c:v>빽다방</c:v>
                </c:pt>
                <c:pt idx="4">
                  <c:v>텐퍼센트커피</c:v>
                </c:pt>
                <c:pt idx="5">
                  <c:v>컴포즈커피</c:v>
                </c:pt>
              </c:strCache>
            </c:strRef>
          </c:cat>
          <c:val>
            <c:numRef>
              <c:f>Sheet1!$B$2:$B$7</c:f>
              <c:numCache>
                <c:formatCode>General</c:formatCode>
                <c:ptCount val="6"/>
                <c:pt idx="0">
                  <c:v>4700</c:v>
                </c:pt>
                <c:pt idx="1">
                  <c:v>4700</c:v>
                </c:pt>
                <c:pt idx="2">
                  <c:v>4700</c:v>
                </c:pt>
                <c:pt idx="3">
                  <c:v>1700</c:v>
                </c:pt>
                <c:pt idx="4">
                  <c:v>2500</c:v>
                </c:pt>
                <c:pt idx="5">
                  <c:v>1500</c:v>
                </c:pt>
              </c:numCache>
            </c:numRef>
          </c:val>
          <c:extLst>
            <c:ext xmlns:c16="http://schemas.microsoft.com/office/drawing/2014/chart" uri="{C3380CC4-5D6E-409C-BE32-E72D297353CC}">
              <c16:uniqueId val="{0000000C-DB19-4FEE-A503-C6518B5B9D06}"/>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none"/>
        <c:minorTickMark val="none"/>
        <c:tickLblPos val="nextTo"/>
        <c:spPr>
          <a:ln>
            <a:noFill/>
          </a:ln>
        </c:spPr>
        <c:txPr>
          <a:bodyPr/>
          <a:lstStyle/>
          <a:p>
            <a:pPr>
              <a:defRPr sz="1200">
                <a:solidFill>
                  <a:srgbClr val="30231D"/>
                </a:solidFill>
                <a:latin typeface="맑은 고딕"/>
              </a:defRPr>
            </a:pPr>
            <a:endParaRPr lang="ko-KR"/>
          </a:p>
        </c:txPr>
        <c:crossAx val="-2113994440"/>
        <c:crosses val="autoZero"/>
        <c:auto val="1"/>
        <c:lblAlgn val="ctr"/>
        <c:lblOffset val="100"/>
        <c:noMultiLvlLbl val="0"/>
      </c:catAx>
      <c:valAx>
        <c:axId val="-2113994440"/>
        <c:scaling>
          <c:orientation val="minMax"/>
          <c:max val="5600"/>
          <c:min val="0"/>
        </c:scaling>
        <c:delete val="0"/>
        <c:axPos val="t"/>
        <c:majorGridlines>
          <c:spPr>
            <a:ln w="5080">
              <a:solidFill>
                <a:srgbClr val="CFC1AE"/>
              </a:solidFill>
            </a:ln>
          </c:spPr>
        </c:majorGridlines>
        <c:numFmt formatCode="General" sourceLinked="1"/>
        <c:majorTickMark val="none"/>
        <c:minorTickMark val="none"/>
        <c:tickLblPos val="nextTo"/>
        <c:spPr>
          <a:ln>
            <a:noFill/>
          </a:ln>
        </c:spPr>
        <c:txPr>
          <a:bodyPr/>
          <a:lstStyle/>
          <a:p>
            <a:pPr>
              <a:defRPr sz="1000">
                <a:latin typeface="Arial"/>
              </a:defRPr>
            </a:pPr>
            <a:endParaRPr lang="ko-K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10"/>
  <c:chart>
    <c:autoTitleDeleted val="1"/>
    <c:plotArea>
      <c:layout/>
      <c:barChart>
        <c:barDir val="bar"/>
        <c:grouping val="clustered"/>
        <c:varyColors val="1"/>
        <c:ser>
          <c:idx val="0"/>
          <c:order val="0"/>
          <c:tx>
            <c:strRef>
              <c:f>Sheet1!$B$1</c:f>
              <c:strCache>
                <c:ptCount val="1"/>
                <c:pt idx="0">
                  <c:v>값</c:v>
                </c:pt>
              </c:strCache>
            </c:strRef>
          </c:tx>
          <c:invertIfNegative val="1"/>
          <c:dPt>
            <c:idx val="0"/>
            <c:invertIfNegative val="1"/>
            <c:bubble3D val="0"/>
            <c:spPr>
              <a:solidFill>
                <a:srgbClr val="754B36"/>
              </a:solidFill>
              <a:ln>
                <a:noFill/>
              </a:ln>
            </c:spPr>
            <c:extLst>
              <c:ext xmlns:c16="http://schemas.microsoft.com/office/drawing/2014/chart" uri="{C3380CC4-5D6E-409C-BE32-E72D297353CC}">
                <c16:uniqueId val="{00000001-29D2-4C80-9300-644844BBFABA}"/>
              </c:ext>
            </c:extLst>
          </c:dPt>
          <c:dPt>
            <c:idx val="1"/>
            <c:invertIfNegative val="1"/>
            <c:bubble3D val="0"/>
            <c:spPr>
              <a:solidFill>
                <a:srgbClr val="63765D"/>
              </a:solidFill>
              <a:ln>
                <a:noFill/>
              </a:ln>
            </c:spPr>
            <c:extLst>
              <c:ext xmlns:c16="http://schemas.microsoft.com/office/drawing/2014/chart" uri="{C3380CC4-5D6E-409C-BE32-E72D297353CC}">
                <c16:uniqueId val="{00000003-29D2-4C80-9300-644844BBFABA}"/>
              </c:ext>
            </c:extLst>
          </c:dPt>
          <c:dLbls>
            <c:numFmt formatCode="#,##0" sourceLinked="0"/>
            <c:spPr>
              <a:noFill/>
              <a:ln>
                <a:noFill/>
              </a:ln>
              <a:effectLst/>
            </c:spPr>
            <c:txPr>
              <a:bodyPr/>
              <a:lstStyle/>
              <a:p>
                <a:pPr>
                  <a:defRPr sz="1300" b="1">
                    <a:solidFill>
                      <a:srgbClr val="30231D"/>
                    </a:solidFill>
                    <a:latin typeface="Aria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 평균</c:v>
                </c:pt>
                <c:pt idx="1">
                  <c:v>B 평균</c:v>
                </c:pt>
              </c:strCache>
            </c:strRef>
          </c:cat>
          <c:val>
            <c:numRef>
              <c:f>Sheet1!$B$2:$B$3</c:f>
              <c:numCache>
                <c:formatCode>General</c:formatCode>
                <c:ptCount val="2"/>
                <c:pt idx="0">
                  <c:v>4700</c:v>
                </c:pt>
                <c:pt idx="1">
                  <c:v>1900</c:v>
                </c:pt>
              </c:numCache>
            </c:numRef>
          </c:val>
          <c:extLst>
            <c:ext xmlns:c16="http://schemas.microsoft.com/office/drawing/2014/chart" uri="{C3380CC4-5D6E-409C-BE32-E72D297353CC}">
              <c16:uniqueId val="{00000004-29D2-4C80-9300-644844BBFABA}"/>
            </c:ext>
          </c:extLst>
        </c:ser>
        <c:dLbls>
          <c:dLblPos val="outEnd"/>
          <c:showLegendKey val="0"/>
          <c:showVal val="1"/>
          <c:showCatName val="0"/>
          <c:showSerName val="0"/>
          <c:showPercent val="0"/>
          <c:showBubbleSize val="0"/>
        </c:dLbls>
        <c:gapWidth val="65"/>
        <c:axId val="-2068027336"/>
        <c:axId val="-2113994440"/>
      </c:barChart>
      <c:catAx>
        <c:axId val="-2068027336"/>
        <c:scaling>
          <c:orientation val="maxMin"/>
        </c:scaling>
        <c:delete val="0"/>
        <c:axPos val="l"/>
        <c:numFmt formatCode="General" sourceLinked="0"/>
        <c:majorTickMark val="none"/>
        <c:minorTickMark val="none"/>
        <c:tickLblPos val="nextTo"/>
        <c:spPr>
          <a:ln>
            <a:noFill/>
          </a:ln>
        </c:spPr>
        <c:txPr>
          <a:bodyPr/>
          <a:lstStyle/>
          <a:p>
            <a:pPr>
              <a:defRPr sz="1200">
                <a:solidFill>
                  <a:srgbClr val="30231D"/>
                </a:solidFill>
                <a:latin typeface="맑은 고딕"/>
              </a:defRPr>
            </a:pPr>
            <a:endParaRPr lang="ko-KR"/>
          </a:p>
        </c:txPr>
        <c:crossAx val="-2113994440"/>
        <c:crosses val="autoZero"/>
        <c:auto val="1"/>
        <c:lblAlgn val="ctr"/>
        <c:lblOffset val="100"/>
        <c:noMultiLvlLbl val="0"/>
      </c:catAx>
      <c:valAx>
        <c:axId val="-2113994440"/>
        <c:scaling>
          <c:orientation val="minMax"/>
          <c:max val="6200"/>
          <c:min val="0"/>
        </c:scaling>
        <c:delete val="0"/>
        <c:axPos val="t"/>
        <c:majorGridlines>
          <c:spPr>
            <a:ln w="5080">
              <a:solidFill>
                <a:srgbClr val="CFC1AE"/>
              </a:solidFill>
            </a:ln>
          </c:spPr>
        </c:majorGridlines>
        <c:numFmt formatCode="General" sourceLinked="1"/>
        <c:majorTickMark val="none"/>
        <c:minorTickMark val="none"/>
        <c:tickLblPos val="nextTo"/>
        <c:spPr>
          <a:ln>
            <a:noFill/>
          </a:ln>
        </c:spPr>
        <c:txPr>
          <a:bodyPr/>
          <a:lstStyle/>
          <a:p>
            <a:pPr>
              <a:defRPr sz="1000">
                <a:latin typeface="Arial"/>
              </a:defRPr>
            </a:pPr>
            <a:endParaRPr lang="ko-KR"/>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38966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오늘의 질문은 비싼 커피에 지불한 돈이 더 좋은 원두의 대가인지입니다. 먼저 가격과 원두의 공개 정보를 모으고, 무엇을 확인할 수 있는지부터 따져 봤습니다. 표지 이미지는 Google Flow로 만든 설명용 비주얼이며, 브랜드 제품이나 원두 품질의 증거가 아닙니다.</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가격은 돈으로 비교하기 쉽지만 품질은 단일한 수치가 아닙니다. 품종·산지·배전은 커피의 특성을 말해 주고, 인증도 각기 다른 목적을 가집니다. 비싼 브랜드에만 관찰되는 원두 특성이 있는지 가설을 세웠지만, 어느 쪽이 더 좋다고 미리 정하지 않았습니다. 맛의 우열은 블라인드 테이스팅 없이 결론 내리지 않습니다.</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사용자가 지정한 여섯 브랜드를 목적 표집했습니다. A는 일반 프랜차이즈, B는 가성비를 중심으로 묶은 분석상의 포지셔닝입니다. 각 그룹 세 브랜드뿐이므로 한국 전체 카페 시장으로 통계적으로 일반화할 수 없습니다. 동일 브랜드 안에서도 원두 옵션과 매장 운영은 달라질 수 있습니다.</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공식·취재 근거 출처는 공식 홈페이지와 제품 자료를 우선하고, 가격은 인상 보도와 매장 메뉴를 보완해 수집했습니다. Firecrawl 연결과 실제 본문을 확인했고, 컴포즈 공식 사이트의 국가 제한 403과 스타벅스 잘못된 주소의 소프트 404는 성공 자료에서 제외했습니다. 온도가 명시되지 않은 텐퍼센트 가격 2건과 100원 이벤트는 HOT 비교에 사용하지 않았습니다. verified는 공개 문구를 확인했다는 뜻이지 독립적으로 원두를 시험했다는 뜻이 아닙니다.</a:t>
            </a:r>
          </a:p>
          <a:p>
            <a:endParaRPr/>
          </a:p>
          <a:p>
            <a:r>
              <a:t>[S04] 언론(뉴시스) | 게시/적용: 2025-01-20 | 수집 2026-10-18</a:t>
            </a:r>
          </a:p>
          <a:p>
            <a:r>
              <a:t>https://www.newsis.com/view/NISX20250120_0003038755?pc_view=1</a:t>
            </a:r>
          </a:p>
          <a:p>
            <a:r>
              <a:t>[S06] 공식 홈페이지 | 게시/적용: 게시일 미표기 | 수집 2026-10-18</a:t>
            </a:r>
          </a:p>
          <a:p>
            <a:r>
              <a:t>https://www.twosome.co.kr/mn/coffeeStory.do</a:t>
            </a:r>
          </a:p>
          <a:p>
            <a:r>
              <a:t>[S09] 공식 홈페이지 | 게시/적용: 게시일 미표기 | 수집 2026-10-18</a:t>
            </a:r>
          </a:p>
          <a:p>
            <a:r>
              <a:t>https://www.pascucci.co.kr/company/intro_korea.asp</a:t>
            </a:r>
          </a:p>
          <a:p>
            <a:r>
              <a:t>[S11] 공식 홈페이지 | 게시/적용: 게시일 미표기 | 수집 2026-10-18</a:t>
            </a:r>
          </a:p>
          <a:p>
            <a:r>
              <a:t>https://paikdabang.com/about/coffee_story/</a:t>
            </a:r>
          </a:p>
          <a:p>
            <a:r>
              <a:t>[S13] 공식 홈페이지 | 게시/적용: 게시일 미표기 | 수집 2026-10-18</a:t>
            </a:r>
          </a:p>
          <a:p>
            <a:r>
              <a:t>https://www.tenpercentcoffee.com/sub/sub11.php</a:t>
            </a:r>
          </a:p>
          <a:p>
            <a:r>
              <a:t>[S15] 매장 주문 플랫폼(패스오더) | 게시/적용: 게시일 미표기 | 수집 2026-10-18</a:t>
            </a:r>
          </a:p>
          <a:p>
            <a:r>
              <a:t>https://app.passorder.co.kr/normal/73961a8c-4ace-4cf0-aee4-4a4decbfb234</a:t>
            </a:r>
          </a:p>
          <a:p>
            <a:r>
              <a:t>[S16] 매장 주문 플랫폼(패스오더) | 게시/적용: 게시일 미표기 | 수집 2026-10-18</a:t>
            </a:r>
          </a:p>
          <a:p>
            <a:r>
              <a:t>https://app.passorder.co.kr/normal/279ece8e-612f-452c-8da2-d5422c4525fc/menus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공개 자료의 HOT 관측값은 스타벅스 톨 4700원, 투썸 레귤러와 폴 바셋 스탠더드 4700원, 빽다방 1700원, 텐퍼센트 울산비즈파크점 2500원, 컴포즈 1500원입니다. 자료상 최고와 최저는 3200원 차이, 약 3.13배입니다. A의 단순 평균은 4700원, B는 1900원입니다. 다만 가격 적용일이 다르고 텐퍼센트는 특정 매장 재게시 가격입니다. 스타벅스 톨은 최소 판매 크기인 숏과 다릅니다. 2026년 전국 최신 동일가라고 주장하지 않습니다. 공식 HOT 용량은 스타벅스 355mL와 폴 바셋 360mL만 확인해 6개 브랜드의 100mL 가격 순위는 만들지 않았습니다.</a:t>
            </a:r>
          </a:p>
          <a:p>
            <a:endParaRPr/>
          </a:p>
          <a:p>
            <a:r>
              <a:t>[S04] 언론(뉴시스) | 게시/적용: 2025-01-20 | 수집 2026-10-18</a:t>
            </a:r>
          </a:p>
          <a:p>
            <a:r>
              <a:t>https://www.newsis.com/view/NISX20250120_0003038755?pc_view=1</a:t>
            </a:r>
          </a:p>
          <a:p>
            <a:r>
              <a:t>[S05] 공식 메뉴 | 게시/적용: 게시일 미표기 | 수집 2026-10-18</a:t>
            </a:r>
          </a:p>
          <a:p>
            <a:r>
              <a:t>https://www.starbucks.co.kr/menu/drink_view.do?product_cd=94</a:t>
            </a:r>
          </a:p>
          <a:p>
            <a:r>
              <a:t>[S08] 언론(한국경제) | 게시/적용: 2025-03-24 | 수집 2026-10-18</a:t>
            </a:r>
          </a:p>
          <a:p>
            <a:r>
              <a:t>https://www.hankyung.com/article/2025032451511</a:t>
            </a:r>
          </a:p>
          <a:p>
            <a:r>
              <a:t>[S30] 공식 HOT 메뉴 | 게시/적용: 게시일 미표기 | 수집 2026-10-18</a:t>
            </a:r>
          </a:p>
          <a:p>
            <a:r>
              <a:t>https://www.baristapaulbassett.co.kr/menu/View.pb?cid1=A&amp;cid2=B&amp;dpid=PB179548</a:t>
            </a:r>
          </a:p>
          <a:p>
            <a:r>
              <a:t>[S31] 교환권 유통(11번가) | 게시/적용: 게시일 미표기 | 수집 2026-10-18</a:t>
            </a:r>
          </a:p>
          <a:p>
            <a:r>
              <a:t>https://www.11st.co.kr/products/7996618616</a:t>
            </a:r>
          </a:p>
          <a:p>
            <a:r>
              <a:t>[S32] 언론(뉴스핌) | 게시/적용: 2025-01-16 | 수집 2026-10-18</a:t>
            </a:r>
          </a:p>
          <a:p>
            <a:r>
              <a:t>https://m.newspim.com/news/view/20250116001018</a:t>
            </a:r>
          </a:p>
          <a:p>
            <a:r>
              <a:t>[S12] 언론(뉴스핌) | 게시/적용: 2025-05-15 | 수집 2026-10-18</a:t>
            </a:r>
          </a:p>
          <a:p>
            <a:r>
              <a:t>https://www.newspim.com/news/view/20250515000251</a:t>
            </a:r>
          </a:p>
          <a:p>
            <a:r>
              <a:t>[S14] 매장정보 재게시(다이닝코드) | 게시/적용: 게시·적용일 미확인 | 수집 2026-10-18</a:t>
            </a:r>
          </a:p>
          <a:p>
            <a:r>
              <a:t>https://www.diningcode.com/profile.php?rid=LTuiY2XHcYsR</a:t>
            </a:r>
          </a:p>
          <a:p>
            <a:r>
              <a:t>[S17] 언론(한국경제) | 게시/적용: 2025-02-03 | 수집 2026-10-18</a:t>
            </a:r>
          </a:p>
          <a:p>
            <a:r>
              <a:t>https://www.hankyung.com/article/202502039855g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파스쿠찌의 현재 한국 매장 골든삭 생산국은 미확보여서 유사한 4,700원대의 폴 바셋으로 교체했습니다. 폴 바셋 공식 HOT 메뉴는 시그니처 블렌드를 사용한다고 명시하고, 공식 원두 안내는 브라질·에티오피아 생산국을 공개합니다. 품종 비율과 국가별 배합비, 스페셜티 구성분 함량은 서로 다른 정보입니다. 스타벅스 외 품종 비율은 이번에 확보하지 못했습니다. 이것을 기업의 비공개 선언으로 해석하지 않았습니다.</a:t>
            </a:r>
          </a:p>
          <a:p>
            <a:endParaRPr/>
          </a:p>
          <a:p>
            <a:r>
              <a:t>[S01] 공식 홈페이지 | 게시/적용: 게시일 미표기 | 수집 2026-10-18</a:t>
            </a:r>
          </a:p>
          <a:p>
            <a:r>
              <a:t>https://www.starbucks.co.kr/coffee/story.do?PACKAGE=02</a:t>
            </a:r>
          </a:p>
          <a:p>
            <a:r>
              <a:t>[S06] 공식 홈페이지 | 게시/적용: 게시일 미표기 | 수집 2026-10-18</a:t>
            </a:r>
          </a:p>
          <a:p>
            <a:r>
              <a:t>https://www.twosome.co.kr/mn/coffeeStory.do</a:t>
            </a:r>
          </a:p>
          <a:p>
            <a:r>
              <a:t>[S13] 공식 홈페이지 | 게시/적용: 게시일 미표기 | 수집 2026-10-18</a:t>
            </a:r>
          </a:p>
          <a:p>
            <a:r>
              <a:t>https://www.tenpercentcoffee.com/sub/sub11.php</a:t>
            </a:r>
          </a:p>
          <a:p>
            <a:r>
              <a:t>[S24] 공식 창업 안내 | 게시/적용: 게시일 미표기 | 수집 2026-10-18</a:t>
            </a:r>
          </a:p>
          <a:p>
            <a:r>
              <a:t>https://start.theborn.co.kr/m/paikdabang</a:t>
            </a:r>
          </a:p>
          <a:p>
            <a:r>
              <a:t>[S26] 취재 기사(아이뉴스24) | 게시/적용: 2026-03-15 | 수집 2026-10-18</a:t>
            </a:r>
          </a:p>
          <a:p>
            <a:r>
              <a:t>https://v.daum.net/v/3zKNh7Rfl4</a:t>
            </a:r>
          </a:p>
          <a:p>
            <a:r>
              <a:t>[S28] 공식 원두 납품 안내 | 게시/적용: 게시일 미표기 | 수집 2026-10-18</a:t>
            </a:r>
          </a:p>
          <a:p>
            <a:r>
              <a:t>https://www.baristapaulbassett.co.kr/contactus/coffeebeans/Signature.pb</a:t>
            </a:r>
          </a:p>
          <a:p>
            <a:r>
              <a:t>[S30] 공식 HOT 메뉴 | 게시/적용: 게시일 미표기 | 수집 2026-10-18</a:t>
            </a:r>
          </a:p>
          <a:p>
            <a:r>
              <a:t>https://www.baristapaulbassett.co.kr/menu/View.pb?cid1=A&amp;cid2=B&amp;dpid=PB179548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생두 생산국과 로스팅 장소를 분리했습니다. 투썸 블랙그라운드는 콜롬비아·브라질·파푸아뉴기니, 아로마노트는 에티오피아·과테말라입니다. 폴 바셋 시그니처는 브라질·에티오피아이며 국내 로스팅입니다. 빽다방은 2026년 6월 현장 취재에서 브라질 벨로소 DOT, 파젠다 엄 내추럴, 파젠다 엄 펄프드 내추럴 3종을 확인했습니다. 5–15일은 로스팅 후 사용 기간이며 배전 단계가 아닙니다. 텐퍼센트 다크는 브라질·콜롬비아·과테말라·에티오피아, 미디엄은 과테말라·콜롬비아·에티오피아입니다. 컴포즈 2026 기업 인터뷰는 비터홀릭의 브라질·콜롬비아·에티오피아 구성을 안내합니다. 스타벅스 한국 제품 본문은 라틴 아메리카·아시아/태평양, 하단은 아프리카/아라비아로 충돌해 국가를 확정하지 않았습니다. 상세 농장·지역·시점·URL은 origin_audit.csv에 있습니다.</a:t>
            </a:r>
          </a:p>
          <a:p>
            <a:endParaRPr/>
          </a:p>
          <a:p>
            <a:r>
              <a:t>[S02] 공식 제품 자료 | 게시/적용: 게시일 미표기 | 수집 2026-10-18</a:t>
            </a:r>
          </a:p>
          <a:p>
            <a:r>
              <a:t>https://www.starbucks.co.kr/coffee/product_view.do?PRODUCT_CD=11017024</a:t>
            </a:r>
          </a:p>
          <a:p>
            <a:r>
              <a:t>[S06] 공식 홈페이지 | 게시/적용: 게시일 미표기 | 수집 2026-10-18</a:t>
            </a:r>
          </a:p>
          <a:p>
            <a:r>
              <a:t>https://www.twosome.co.kr/mn/coffeeStory.do</a:t>
            </a:r>
          </a:p>
          <a:p>
            <a:r>
              <a:t>[S07] 공식 홈페이지 | 게시/적용: 게시일 미표기 | 수집 2026-10-18</a:t>
            </a:r>
          </a:p>
          <a:p>
            <a:r>
              <a:t>https://www.twosome.co.kr/br/roastingPlant.do</a:t>
            </a:r>
          </a:p>
          <a:p>
            <a:r>
              <a:t>[S13] 공식 홈페이지 | 게시/적용: 게시일 미표기 | 수집 2026-10-18</a:t>
            </a:r>
          </a:p>
          <a:p>
            <a:r>
              <a:t>https://www.tenpercentcoffee.com/sub/sub11.php</a:t>
            </a:r>
          </a:p>
          <a:p>
            <a:r>
              <a:t>[S24] 공식 창업 안내 | 게시/적용: 게시일 미표기 | 수집 2026-10-18</a:t>
            </a:r>
          </a:p>
          <a:p>
            <a:r>
              <a:t>https://start.theborn.co.kr/m/paikdabang</a:t>
            </a:r>
          </a:p>
          <a:p>
            <a:r>
              <a:t>[S25] 현장 취재(데일리안) | 게시/적용: 2026-06-01 | 수집 2026-10-18</a:t>
            </a:r>
          </a:p>
          <a:p>
            <a:r>
              <a:t>https://v.daum.net/v/20260601080101122</a:t>
            </a:r>
          </a:p>
          <a:p>
            <a:r>
              <a:t>[S26] 취재 기사(아이뉴스24) | 게시/적용: 2026-03-15 | 수집 2026-10-18</a:t>
            </a:r>
          </a:p>
          <a:p>
            <a:r>
              <a:t>https://v.daum.net/v/3zKNh7Rfl4</a:t>
            </a:r>
          </a:p>
          <a:p>
            <a:r>
              <a:t>[S27] 기업 홍보 인터뷰(NYF K-NBA) | 게시/적용: 2026-04-09 | 수집 2026-10-18</a:t>
            </a:r>
          </a:p>
          <a:p>
            <a:r>
              <a:t>https://nyfknba.com/blog/compose-coffee-interview-2026/</a:t>
            </a:r>
          </a:p>
          <a:p>
            <a:r>
              <a:t>[S28] 공식 원두 납품 안내 | 게시/적용: 게시일 미표기 | 수집 2026-10-18</a:t>
            </a:r>
          </a:p>
          <a:p>
            <a:r>
              <a:t>https://www.baristapaulbassett.co.kr/contactus/coffeebeans/Signature.pb</a:t>
            </a:r>
          </a:p>
          <a:p>
            <a:r>
              <a:t>[S29] 공식 브랜드 원칙 | 게시/적용: 게시일 미표기 | 수집 2026-10-18</a:t>
            </a:r>
          </a:p>
          <a:p>
            <a:r>
              <a:t>https://www.baristapaulbassett.co.kr/aboutus/brand/Principles.pb</a:t>
            </a:r>
          </a:p>
          <a:p>
            <a:r>
              <a:t>[S30] 공식 HOT 메뉴 | 게시/적용: 게시일 미표기 | 수집 2026-10-18</a:t>
            </a:r>
          </a:p>
          <a:p>
            <a:r>
              <a:t>https://www.baristapaulbassett.co.kr/menu/View.pb?cid1=A&amp;cid2=B&amp;dpid=PB179548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빽다방 공식 창업 자료는 파젠다 엄 스페셜티 20% 배합을 명시합니다. 문구의 존재는 확인했지만 개별 로트 평가표를 검증한 것은 아닙니다. 컴포즈 2026년 3월 취재 기사에는 브라질 미나스제라이스 스페셜티 구성분 5%와 해당 원두 SCA 82점이 보도됐습니다. 82점은 전체 비터홀릭이나 매장 한 잔의 독립 점수로 사용할 수 없고 평가 원본도 미확보입니다. 폴 바셋의 스페셜티 선별과 로스팅 후 3–14일 사용은 공식 관리 주장입니다. 텐퍼센트 상위 10%는 실제 배합 함량이 아닙니다. 여섯 브랜드를 같은 조건에서 비교한 독립 평가표는 확보하지 못했습니다.</a:t>
            </a:r>
          </a:p>
          <a:p>
            <a:endParaRPr/>
          </a:p>
          <a:p>
            <a:r>
              <a:t>[S03] 공식 홈페이지 | 게시/적용: 게시일 미표기 | 수집 2026-10-18</a:t>
            </a:r>
          </a:p>
          <a:p>
            <a:r>
              <a:t>https://www.starbucks.co.kr/responsibility/ethically_sourcing.do</a:t>
            </a:r>
          </a:p>
          <a:p>
            <a:r>
              <a:t>[S07] 공식 홈페이지 | 게시/적용: 게시일 미표기 | 수집 2026-10-18</a:t>
            </a:r>
          </a:p>
          <a:p>
            <a:r>
              <a:t>https://www.twosome.co.kr/br/roastingPlant.do</a:t>
            </a:r>
          </a:p>
          <a:p>
            <a:r>
              <a:t>[S13] 공식 홈페이지 | 게시/적용: 게시일 미표기 | 수집 2026-10-18</a:t>
            </a:r>
          </a:p>
          <a:p>
            <a:r>
              <a:t>https://www.tenpercentcoffee.com/sub/sub11.php</a:t>
            </a:r>
          </a:p>
          <a:p>
            <a:r>
              <a:t>[S24] 공식 창업 안내 | 게시/적용: 게시일 미표기 | 수집 2026-10-18</a:t>
            </a:r>
          </a:p>
          <a:p>
            <a:r>
              <a:t>https://start.theborn.co.kr/m/paikdabang</a:t>
            </a:r>
          </a:p>
          <a:p>
            <a:r>
              <a:t>[S26] 취재 기사(아이뉴스24) | 게시/적용: 2026-03-15 | 수집 2026-10-18</a:t>
            </a:r>
          </a:p>
          <a:p>
            <a:r>
              <a:t>https://v.daum.net/v/3zKNh7Rfl4</a:t>
            </a:r>
          </a:p>
          <a:p>
            <a:r>
              <a:t>[S28] 공식 원두 납품 안내 | 게시/적용: 게시일 미표기 | 수집 2026-10-18</a:t>
            </a:r>
          </a:p>
          <a:p>
            <a:r>
              <a:t>https://www.baristapaulbassett.co.kr/contactus/coffeebeans/Signature.pb</a:t>
            </a:r>
          </a:p>
          <a:p>
            <a:r>
              <a:t>[S29] 공식 브랜드 원칙 | 게시/적용: 게시일 미표기 | 수집 2026-10-18</a:t>
            </a:r>
          </a:p>
          <a:p>
            <a:r>
              <a:t>https://www.baristapaulbassett.co.kr/aboutus/brand/Principles.pb</a:t>
            </a:r>
          </a:p>
          <a:p>
            <a:r>
              <a:t>[S30] 공식 HOT 메뉴 | 게시/적용: 게시일 미표기 | 수집 2026-10-18</a:t>
            </a:r>
          </a:p>
          <a:p>
            <a:r>
              <a:t>https://www.baristapaulbassett.co.kr/menu/View.pb?cid1=A&amp;cid2=B&amp;dpid=PB179548</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막대는 빽다방 공식 안내 20%와 컴포즈 취재 보도 5%의 스페셜티 구성 원두 함량입니다. 국가별 전체 배합비나 품종 비율, 품질 점수가 아닙니다. 다른 브랜드는 함량 근거 미확보로 표시하지 않았고 0%로 대체하지 않았습니다. 텐퍼센트 상위 10%를 함량으로 사용하지 않았습니다. 폴 바셋도 스페셜티 선별을 주장하므로 일반 그룹이 스페셜티를 사용하지 않는다고 말할 수 없습니다. 함량이 높을수록 맛이나 공급 원가가 우수한지는 검증하지 못했습니다.</a:t>
            </a:r>
          </a:p>
          <a:p>
            <a:endParaRPr/>
          </a:p>
          <a:p>
            <a:r>
              <a:t>[S13] 공식 홈페이지 | 게시/적용: 게시일 미표기 | 수집 2026-10-18</a:t>
            </a:r>
          </a:p>
          <a:p>
            <a:r>
              <a:t>https://www.tenpercentcoffee.com/sub/sub11.php</a:t>
            </a:r>
          </a:p>
          <a:p>
            <a:r>
              <a:t>[S24] 공식 창업 안내 | 게시/적용: 게시일 미표기 | 수집 2026-10-18</a:t>
            </a:r>
          </a:p>
          <a:p>
            <a:r>
              <a:t>https://start.theborn.co.kr/m/paikdabang</a:t>
            </a:r>
          </a:p>
          <a:p>
            <a:r>
              <a:t>[S26] 취재 기사(아이뉴스24) | 게시/적용: 2026-03-15 | 수집 2026-10-18</a:t>
            </a:r>
          </a:p>
          <a:p>
            <a:r>
              <a:t>https://v.daum.net/v/3zKNh7Rfl4</a:t>
            </a:r>
          </a:p>
          <a:p>
            <a:r>
              <a:t>[S28] 공식 원두 납품 안내 | 게시/적용: 게시일 미표기 | 수집 2026-10-18</a:t>
            </a:r>
          </a:p>
          <a:p>
            <a:r>
              <a:t>https://www.baristapaulbassett.co.kr/contactus/coffeebeans/Signature.pb</a:t>
            </a:r>
          </a:p>
          <a:p>
            <a:r>
              <a:t>[S29] 공식 브랜드 원칙 | 게시/적용: 게시일 미표기 | 수집 2026-10-18</a:t>
            </a:r>
          </a:p>
          <a:p>
            <a:r>
              <a:t>https://www.baristapaulbassett.co.kr/aboutus/brand/Principles.pb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판매가격은 한 잔을 제공하는 운영 전체와 연결되어 있습니다. 공식 자료에는 원두와 블렌딩 외에도 선별 설비, 로스팅 플랜트, 내부 관리, 매장 공간, 디저트, 주문 편의가 등장합니다. 이것들은 실제로 확인한 서비스와 관리 요소입니다. 다만 해당 요소 때문에 브랜드 간 가격이 얼마 차이 나는지, 임대료나 마진이 몇 퍼센트인지 산출하지 않았습니다. 가성비 그룹에도 공간과 경험을 말하는 브랜드가 있으므로 A는 공간, B는 테이크아웃이라는 이분법으로 단정하지 않습니다.</a:t>
            </a:r>
          </a:p>
          <a:p>
            <a:endParaRPr/>
          </a:p>
          <a:p>
            <a:r>
              <a:t>[S02] 공식 제품 자료 | 게시/적용: 게시일 미표기 | 수집 2026-10-18</a:t>
            </a:r>
          </a:p>
          <a:p>
            <a:r>
              <a:t>https://www.starbucks.co.kr/coffee/product_view.do?PRODUCT_CD=11017024</a:t>
            </a:r>
          </a:p>
          <a:p>
            <a:r>
              <a:t>[S03] 공식 홈페이지 | 게시/적용: 게시일 미표기 | 수집 2026-10-18</a:t>
            </a:r>
          </a:p>
          <a:p>
            <a:r>
              <a:t>https://www.starbucks.co.kr/responsibility/ethically_sourcing.do</a:t>
            </a:r>
          </a:p>
          <a:p>
            <a:r>
              <a:t>[S05] 공식 메뉴 | 게시/적용: 게시일 미표기 | 수집 2026-10-18</a:t>
            </a:r>
          </a:p>
          <a:p>
            <a:r>
              <a:t>https://www.starbucks.co.kr/menu/drink_view.do?product_cd=94</a:t>
            </a:r>
          </a:p>
          <a:p>
            <a:r>
              <a:t>[S07] 공식 홈페이지 | 게시/적용: 게시일 미표기 | 수집 2026-10-18</a:t>
            </a:r>
          </a:p>
          <a:p>
            <a:r>
              <a:t>https://www.twosome.co.kr/br/roastingPlant.do</a:t>
            </a:r>
          </a:p>
          <a:p>
            <a:r>
              <a:t>[S09] 공식 홈페이지 | 게시/적용: 게시일 미표기 | 수집 2026-10-18</a:t>
            </a:r>
          </a:p>
          <a:p>
            <a:r>
              <a:t>https://www.pascucci.co.kr/company/intro_korea.asp</a:t>
            </a:r>
          </a:p>
          <a:p>
            <a:r>
              <a:t>[S13] 공식 홈페이지 | 게시/적용: 게시일 미표기 | 수집 2026-10-18</a:t>
            </a:r>
          </a:p>
          <a:p>
            <a:r>
              <a:t>https://www.tenpercentcoffee.com/sub/sub11.php</a:t>
            </a:r>
          </a:p>
          <a:p>
            <a:r>
              <a:t>[S18] 공식 전시회 참가기업 소개 | 게시/적용: 2023년 전시회 | 수집 2026-10-18</a:t>
            </a:r>
          </a:p>
          <a:p>
            <a:r>
              <a:t>https://kor.cafeshow.com/kor/cafeshow/result2023_comp_view.asp?idx=4239</a:t>
            </a:r>
          </a:p>
          <a:p>
            <a:r>
              <a:t>[S21] 공식 홈페이지 | 게시/적용: 게시일 미표기 | 수집 2026-10-18</a:t>
            </a:r>
          </a:p>
          <a:p>
            <a:r>
              <a:t>https://www.twosome.co.kr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질문에 대한 답은 비싸다는 사실만으로 더 좋은 원두를 사용한다고 판정할 수 없다는 것입니다. 공개 가격 차이는 관찰됐고 가성비 브랜드에도 스페셜티 사용 주장과 관리 특징이 있습니다. 하지만 이것이 싼 원두가 더 좋다는 반대 결론을 뜻하지도 않습니다. 자료 부족 때문에 품질 차이가 없다는 가설을 입증한 것이 아닙니다. 가격과 객관적인 원두 품질의 관계라는 핵심 가설은 미검증으로 남습니다.</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후속 연구에서는 같은 날 동일 생활권에서 여섯 브랜드의 HOT 메뉴를 구매하고 영수증과 실제 부피, 온도를 기록하겠습니다. 시음은 브랜드와 가격을 가린 무작위 코드와 순서로 진행하고 같은 온도에서 반복합니다. 개인적 선호 점수와 향미 특성 평가를 구분하고 가능하면 독립 커핑 평가를 추가합니다. 사전 동의한 평가자를 모집해 반복 측정하되, 사람 수가 작다면 여전히 탐색적 결과로 보고합니다. 원두 공급가를 확보하지 못하면 판매가격과 원두 구매 원가의 관계는 계속 미확인입니다.</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주요 공식 페이지와 가격 출처를 클릭할 수 있도록 넣었습니다. 전체 URL, 게시일 또는 미표기 상태, 수집 시각, 검증 상태는 CSV에 있습니다. 수집 원문과 실패 로그도 남겼습니다. 데이터 정제, 차트, Manim 영상, PowerPoint 생성 코드를 함께 제출합니다. 발표자는 가격 적용일이 2025년인 보도와 현재 수집일이 다르다는 점, 매장별 차이와 독립 품질 지표 미확보를 반드시 함께 설명해야 합니다.</a:t>
            </a:r>
          </a:p>
          <a:p>
            <a:endParaRPr/>
          </a:p>
          <a:p>
            <a:r>
              <a:t>[S01] 공식 홈페이지 | 게시/적용: 게시일 미표기 | 수집 2026-10-18</a:t>
            </a:r>
          </a:p>
          <a:p>
            <a:r>
              <a:t>https://www.starbucks.co.kr/coffee/story.do?PACKAGE=02</a:t>
            </a:r>
          </a:p>
          <a:p>
            <a:r>
              <a:t>[S02] 공식 제품 자료 | 게시/적용: 게시일 미표기 | 수집 2026-10-18</a:t>
            </a:r>
          </a:p>
          <a:p>
            <a:r>
              <a:t>https://www.starbucks.co.kr/coffee/product_view.do?PRODUCT_CD=11017024</a:t>
            </a:r>
          </a:p>
          <a:p>
            <a:r>
              <a:t>[S03] 공식 홈페이지 | 게시/적용: 게시일 미표기 | 수집 2026-10-18</a:t>
            </a:r>
          </a:p>
          <a:p>
            <a:r>
              <a:t>https://www.starbucks.co.kr/responsibility/ethically_sourcing.do</a:t>
            </a:r>
          </a:p>
          <a:p>
            <a:r>
              <a:t>[S04] 언론(뉴시스) | 게시/적용: 2025-01-20 | 수집 2026-10-18</a:t>
            </a:r>
          </a:p>
          <a:p>
            <a:r>
              <a:t>https://www.newsis.com/view/NISX20250120_0003038755?pc_view=1</a:t>
            </a:r>
          </a:p>
          <a:p>
            <a:r>
              <a:t>[S05] 공식 메뉴 | 게시/적용: 게시일 미표기 | 수집 2026-10-18</a:t>
            </a:r>
          </a:p>
          <a:p>
            <a:r>
              <a:t>https://www.starbucks.co.kr/menu/drink_view.do?product_cd=94</a:t>
            </a:r>
          </a:p>
          <a:p>
            <a:r>
              <a:t>[S06] 공식 홈페이지 | 게시/적용: 게시일 미표기 | 수집 2026-10-18</a:t>
            </a:r>
          </a:p>
          <a:p>
            <a:r>
              <a:t>https://www.twosome.co.kr/mn/coffeeStory.do</a:t>
            </a:r>
          </a:p>
          <a:p>
            <a:r>
              <a:t>[S07] 공식 홈페이지 | 게시/적용: 게시일 미표기 | 수집 2026-10-18</a:t>
            </a:r>
          </a:p>
          <a:p>
            <a:r>
              <a:t>https://www.twosome.co.kr/br/roastingPlant.do</a:t>
            </a:r>
          </a:p>
          <a:p>
            <a:r>
              <a:t>[S08] 언론(한국경제) | 게시/적용: 2025-03-24 | 수집 2026-10-18</a:t>
            </a:r>
          </a:p>
          <a:p>
            <a:r>
              <a:t>https://www.hankyung.com/article/2025032451511</a:t>
            </a:r>
          </a:p>
          <a:p>
            <a:r>
              <a:t>[S09] 공식 홈페이지 | 게시/적용: 게시일 미표기 | 수집 2026-10-18</a:t>
            </a:r>
          </a:p>
          <a:p>
            <a:r>
              <a:t>https://www.pascucci.co.kr/company/intro_korea.asp</a:t>
            </a:r>
          </a:p>
          <a:p>
            <a:r>
              <a:t>[S10] 언론(이투데이) | 게시/적용: 2025-02-12 | 수집 2026-10-18</a:t>
            </a:r>
          </a:p>
          <a:p>
            <a:r>
              <a:t>https://www.etoday.co.kr/news/view/2444699</a:t>
            </a:r>
          </a:p>
          <a:p>
            <a:r>
              <a:t>[S11] 공식 홈페이지 | 게시/적용: 게시일 미표기 | 수집 2026-10-18</a:t>
            </a:r>
          </a:p>
          <a:p>
            <a:r>
              <a:t>https://paikdabang.com/about/coffee_story/</a:t>
            </a:r>
          </a:p>
          <a:p>
            <a:r>
              <a:t>[S12] 언론(뉴스핌) | 게시/적용: 2025-05-15 | 수집 2026-10-18</a:t>
            </a:r>
          </a:p>
          <a:p>
            <a:r>
              <a:t>https://www.newspim.com/news/view/20250515000251</a:t>
            </a:r>
          </a:p>
          <a:p>
            <a:r>
              <a:t>[S13] 공식 홈페이지 | 게시/적용: 게시일 미표기 | 수집 2026-10-18</a:t>
            </a:r>
          </a:p>
          <a:p>
            <a:r>
              <a:t>https://www.tenpercentcoffee.com/sub/sub11.php</a:t>
            </a:r>
          </a:p>
          <a:p>
            <a:r>
              <a:t>[S14] 매장정보 재게시(다이닝코드) | 게시/적용: 게시·적용일 미확인 | 수집 2026-10-18</a:t>
            </a:r>
          </a:p>
          <a:p>
            <a:r>
              <a:t>https://www.diningcode.com/profile.php?rid=LTuiY2XHcYsR</a:t>
            </a:r>
          </a:p>
          <a:p>
            <a:r>
              <a:t>[S15] 매장 주문 플랫폼(패스오더) | 게시/적용: 게시일 미표기 | 수집 2026-10-18</a:t>
            </a:r>
          </a:p>
          <a:p>
            <a:r>
              <a:t>https://app.passorder.co.kr/normal/73961a8c-4ace-4cf0-aee4-4a4decbfb234</a:t>
            </a:r>
          </a:p>
          <a:p>
            <a:r>
              <a:t>[S16] 매장 주문 플랫폼(패스오더) | 게시/적용: 게시일 미표기 | 수집 2026-10-18</a:t>
            </a:r>
          </a:p>
          <a:p>
            <a:r>
              <a:t>https://app.passorder.co.kr/normal/279ece8e-612f-452c-8da2-d5422c4525fc/menus</a:t>
            </a:r>
          </a:p>
          <a:p>
            <a:r>
              <a:t>[S17] 언론(한국경제) | 게시/적용: 2025-02-03 | 수집 2026-10-18</a:t>
            </a:r>
          </a:p>
          <a:p>
            <a:r>
              <a:t>https://www.hankyung.com/article/202502039855g</a:t>
            </a:r>
          </a:p>
          <a:p>
            <a:r>
              <a:t>[S18] 공식 전시회 참가기업 소개 | 게시/적용: 2023년 전시회 | 수집 2026-10-18</a:t>
            </a:r>
          </a:p>
          <a:p>
            <a:r>
              <a:t>https://kor.cafeshow.com/kor/cafeshow/result2023_comp_view.asp?idx=4239</a:t>
            </a:r>
          </a:p>
          <a:p>
            <a:r>
              <a:t>[S19] 전문 매체(더피알) | 게시/적용: 게시일 확인 불가 | 수집 2026-10-18</a:t>
            </a:r>
          </a:p>
          <a:p>
            <a:r>
              <a:t>https://www.the-pr.co.kr/news/articleView.html?idxno=52713</a:t>
            </a:r>
          </a:p>
          <a:p>
            <a:r>
              <a:t>[S20] 언론(세계일보/다음) | 게시/적용: 2025-01-23 | 수집 2026-10-18</a:t>
            </a:r>
          </a:p>
          <a:p>
            <a:r>
              <a:t>https://v.daum.net/v/ztIZsyFO7l</a:t>
            </a:r>
          </a:p>
          <a:p>
            <a:r>
              <a:t>[S21] 공식 홈페이지 | 게시/적용: 게시일 미표기 | 수집 2026-10-18</a:t>
            </a:r>
          </a:p>
          <a:p>
            <a:r>
              <a:t>https://www.twosome.co.kr</a:t>
            </a:r>
          </a:p>
          <a:p>
            <a:r>
              <a:t>[S22] 교환권 유통(SK플래닛/11번가) | 게시/적용: 게시일 미표기 | 수집 2026-10-18</a:t>
            </a:r>
          </a:p>
          <a:p>
            <a:r>
              <a:t>https://www.11st.co.kr/products/8432247303</a:t>
            </a:r>
          </a:p>
          <a:p>
            <a:r>
              <a:t>[S23] 매장 정보 플랫폼(테이블링) | 게시/적용: 게시일 미표기 | 수집 2026-10-18</a:t>
            </a:r>
          </a:p>
          <a:p>
            <a:r>
              <a:t>https://www.tabling.co.kr/place/677cc82b66de5f0698764007</a:t>
            </a:r>
          </a:p>
          <a:p>
            <a:r>
              <a:t>[S24] 공식 창업 안내 | 게시/적용: 게시일 미표기 | 수집 2026-10-18</a:t>
            </a:r>
          </a:p>
          <a:p>
            <a:r>
              <a:t>https://start.theborn.co.kr/m/paikdabang</a:t>
            </a:r>
          </a:p>
          <a:p>
            <a:r>
              <a:t>[S25] 현장 취재(데일리안) | 게시/적용: 2026-06-01 | 수집 2026-10-18</a:t>
            </a:r>
          </a:p>
          <a:p>
            <a:r>
              <a:t>https://v.daum.net/v/20260601080101122</a:t>
            </a:r>
          </a:p>
          <a:p>
            <a:r>
              <a:t>[S26] 취재 기사(아이뉴스24) | 게시/적용: 2026-03-15 | 수집 2026-10-18</a:t>
            </a:r>
          </a:p>
          <a:p>
            <a:r>
              <a:t>https://v.daum.net/v/3zKNh7Rfl4</a:t>
            </a:r>
          </a:p>
          <a:p>
            <a:r>
              <a:t>[S27] 기업 홍보 인터뷰(NYF K-NBA) | 게시/적용: 2026-04-09 | 수집 2026-10-18</a:t>
            </a:r>
          </a:p>
          <a:p>
            <a:r>
              <a:t>https://nyfknba.com/blog/compose-coffee-interview-2026/</a:t>
            </a:r>
          </a:p>
          <a:p>
            <a:r>
              <a:t>[S28] 공식 원두 납품 안내 | 게시/적용: 게시일 미표기 | 수집 2026-10-18</a:t>
            </a:r>
          </a:p>
          <a:p>
            <a:r>
              <a:t>https://www.baristapaulbassett.co.kr/contactus/coffeebeans/Signature.pb</a:t>
            </a:r>
          </a:p>
          <a:p>
            <a:r>
              <a:t>[S29] 공식 브랜드 원칙 | 게시/적용: 게시일 미표기 | 수집 2026-10-18</a:t>
            </a:r>
          </a:p>
          <a:p>
            <a:r>
              <a:t>https://www.baristapaulbassett.co.kr/aboutus/brand/Principles.pb</a:t>
            </a:r>
          </a:p>
          <a:p>
            <a:r>
              <a:t>[S30] 공식 HOT 메뉴 | 게시/적용: 게시일 미표기 | 수집 2026-10-18</a:t>
            </a:r>
          </a:p>
          <a:p>
            <a:r>
              <a:t>https://www.baristapaulbassett.co.kr/menu/View.pb?cid1=A&amp;cid2=B&amp;dpid=PB179548</a:t>
            </a:r>
          </a:p>
          <a:p>
            <a:r>
              <a:t>[S31] 교환권 유통(11번가) | 게시/적용: 게시일 미표기 | 수집 2026-10-18</a:t>
            </a:r>
          </a:p>
          <a:p>
            <a:r>
              <a:t>https://www.11st.co.kr/products/7996618616</a:t>
            </a:r>
          </a:p>
          <a:p>
            <a:r>
              <a:t>[S32] 언론(뉴스핌) | 게시/적용: 2025-01-16 | 수집 2026-10-18</a:t>
            </a:r>
          </a:p>
          <a:p>
            <a:r>
              <a:t>https://m.newspim.com/news/view/20250116001018</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v.daum.net/v/20260601080101122" TargetMode="External"/><Relationship Id="rId13" Type="http://schemas.openxmlformats.org/officeDocument/2006/relationships/hyperlink" Target="https://www.baristapaulbassett.co.kr/menu/View.pb?cid1=A&amp;cid2=B&amp;dpid=PB179548" TargetMode="External"/><Relationship Id="rId3" Type="http://schemas.openxmlformats.org/officeDocument/2006/relationships/hyperlink" Target="https://www.starbucks.co.kr/coffee/story.do?PACKAGE=02" TargetMode="External"/><Relationship Id="rId7" Type="http://schemas.openxmlformats.org/officeDocument/2006/relationships/hyperlink" Target="https://start.theborn.co.kr/m/paikdabang" TargetMode="External"/><Relationship Id="rId12" Type="http://schemas.openxmlformats.org/officeDocument/2006/relationships/hyperlink" Target="https://www.baristapaulbassett.co.kr/aboutus/brand/Principles.pb" TargetMode="External"/><Relationship Id="rId2" Type="http://schemas.openxmlformats.org/officeDocument/2006/relationships/notesSlide" Target="../notesSlides/notesSlide13.xml"/><Relationship Id="rId16" Type="http://schemas.openxmlformats.org/officeDocument/2006/relationships/hyperlink" Target="https://www.hankyung.com/article/202502039855g" TargetMode="External"/><Relationship Id="rId1" Type="http://schemas.openxmlformats.org/officeDocument/2006/relationships/slideLayout" Target="../slideLayouts/slideLayout7.xml"/><Relationship Id="rId6" Type="http://schemas.openxmlformats.org/officeDocument/2006/relationships/hyperlink" Target="https://www.tenpercentcoffee.com/sub/sub11.php" TargetMode="External"/><Relationship Id="rId11" Type="http://schemas.openxmlformats.org/officeDocument/2006/relationships/hyperlink" Target="https://www.baristapaulbassett.co.kr/contactus/coffeebeans/Signature.pb" TargetMode="External"/><Relationship Id="rId5" Type="http://schemas.openxmlformats.org/officeDocument/2006/relationships/hyperlink" Target="https://www.twosome.co.kr/mn/coffeeStory.do" TargetMode="External"/><Relationship Id="rId15" Type="http://schemas.openxmlformats.org/officeDocument/2006/relationships/hyperlink" Target="https://www.newspim.com/news/view/20250515000251" TargetMode="External"/><Relationship Id="rId10" Type="http://schemas.openxmlformats.org/officeDocument/2006/relationships/hyperlink" Target="https://nyfknba.com/blog/compose-coffee-interview-2026/" TargetMode="External"/><Relationship Id="rId4" Type="http://schemas.openxmlformats.org/officeDocument/2006/relationships/hyperlink" Target="https://www.starbucks.co.kr/coffee/product_view.do?PRODUCT_CD=11017024" TargetMode="External"/><Relationship Id="rId9" Type="http://schemas.openxmlformats.org/officeDocument/2006/relationships/hyperlink" Target="https://v.daum.net/v/3zKNh7Rfl4" TargetMode="External"/><Relationship Id="rId14" Type="http://schemas.openxmlformats.org/officeDocument/2006/relationships/hyperlink" Target="https://www.11st.co.kr/products/79966186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A COFFEE EDITORIAL / DATA LITERACY</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endParaRPr/>
          </a:p>
        </p:txBody>
      </p:sp>
      <p:sp>
        <p:nvSpPr>
          <p:cNvPr id="5" name="Rectangle 4"/>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 2026.10.18 · 공개 자료 조사 · 원두 품질 순위와 인과관계를 산출하지 않음</a:t>
            </a:r>
          </a:p>
        </p:txBody>
      </p:sp>
      <p:sp>
        <p:nvSpPr>
          <p:cNvPr id="7" name="TextBox 6"/>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01 / 13</a:t>
            </a:r>
          </a:p>
        </p:txBody>
      </p:sp>
      <p:pic>
        <p:nvPicPr>
          <p:cNvPr id="8" name="Picture 7" descr="coffee-editorial-flow.jpg"/>
          <p:cNvPicPr>
            <a:picLocks noChangeAspect="1"/>
          </p:cNvPicPr>
          <p:nvPr/>
        </p:nvPicPr>
        <p:blipFill>
          <a:blip r:embed="rId3"/>
          <a:stretch>
            <a:fillRect/>
          </a:stretch>
        </p:blipFill>
        <p:spPr>
          <a:xfrm>
            <a:off x="0" y="0"/>
            <a:ext cx="12191999" cy="6858000"/>
          </a:xfrm>
          <a:prstGeom prst="rect">
            <a:avLst/>
          </a:prstGeom>
        </p:spPr>
      </p:pic>
      <p:sp>
        <p:nvSpPr>
          <p:cNvPr id="9" name="Rectangle 8"/>
          <p:cNvSpPr/>
          <p:nvPr/>
        </p:nvSpPr>
        <p:spPr>
          <a:xfrm>
            <a:off x="0" y="0"/>
            <a:ext cx="6126480"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502920"/>
            <a:ext cx="5486400" cy="365760"/>
          </a:xfrm>
          <a:prstGeom prst="rect">
            <a:avLst/>
          </a:prstGeom>
          <a:noFill/>
        </p:spPr>
        <p:txBody>
          <a:bodyPr wrap="square" lIns="0" tIns="0" rIns="0" bIns="0">
            <a:spAutoFit/>
          </a:bodyPr>
          <a:lstStyle/>
          <a:p>
            <a:pPr>
              <a:spcBef>
                <a:spcPts val="0"/>
              </a:spcBef>
              <a:spcAft>
                <a:spcPts val="500"/>
              </a:spcAft>
              <a:defRPr sz="1200" b="1">
                <a:solidFill>
                  <a:srgbClr val="63765D"/>
                </a:solidFill>
                <a:latin typeface="Arial"/>
              </a:defRPr>
            </a:pPr>
            <a:r>
              <a:t>THE PRICE OF A CUP</a:t>
            </a:r>
          </a:p>
        </p:txBody>
      </p:sp>
      <p:sp>
        <p:nvSpPr>
          <p:cNvPr id="11" name="TextBox 10"/>
          <p:cNvSpPr txBox="1"/>
          <p:nvPr/>
        </p:nvSpPr>
        <p:spPr>
          <a:xfrm>
            <a:off x="502920" y="1371600"/>
            <a:ext cx="5760720" cy="2926080"/>
          </a:xfrm>
          <a:prstGeom prst="rect">
            <a:avLst/>
          </a:prstGeom>
          <a:noFill/>
        </p:spPr>
        <p:txBody>
          <a:bodyPr wrap="square" lIns="0" tIns="0" rIns="0" bIns="0">
            <a:spAutoFit/>
          </a:bodyPr>
          <a:lstStyle/>
          <a:p>
            <a:pPr>
              <a:spcBef>
                <a:spcPts val="0"/>
              </a:spcBef>
              <a:spcAft>
                <a:spcPts val="500"/>
              </a:spcAft>
              <a:defRPr sz="3700" b="1">
                <a:solidFill>
                  <a:srgbClr val="30231D"/>
                </a:solidFill>
                <a:latin typeface="맑은 고딕"/>
              </a:defRPr>
            </a:pPr>
            <a:r>
              <a:t>비싼 커피는</a:t>
            </a:r>
          </a:p>
          <a:p>
            <a:pPr>
              <a:spcBef>
                <a:spcPts val="0"/>
              </a:spcBef>
              <a:spcAft>
                <a:spcPts val="500"/>
              </a:spcAft>
              <a:defRPr sz="3700" b="1">
                <a:solidFill>
                  <a:srgbClr val="30231D"/>
                </a:solidFill>
                <a:latin typeface="맑은 고딕"/>
              </a:defRPr>
            </a:pPr>
            <a:r>
              <a:t>정말 더 좋은</a:t>
            </a:r>
          </a:p>
          <a:p>
            <a:pPr>
              <a:spcBef>
                <a:spcPts val="0"/>
              </a:spcBef>
              <a:spcAft>
                <a:spcPts val="500"/>
              </a:spcAft>
              <a:defRPr sz="3700" b="1">
                <a:solidFill>
                  <a:srgbClr val="30231D"/>
                </a:solidFill>
                <a:latin typeface="맑은 고딕"/>
              </a:defRPr>
            </a:pPr>
            <a:r>
              <a:t>원두를 사용할까?</a:t>
            </a:r>
          </a:p>
        </p:txBody>
      </p:sp>
      <p:sp>
        <p:nvSpPr>
          <p:cNvPr id="12" name="TextBox 11"/>
          <p:cNvSpPr txBox="1"/>
          <p:nvPr/>
        </p:nvSpPr>
        <p:spPr>
          <a:xfrm>
            <a:off x="548640" y="4709160"/>
            <a:ext cx="5303520" cy="822960"/>
          </a:xfrm>
          <a:prstGeom prst="rect">
            <a:avLst/>
          </a:prstGeom>
          <a:noFill/>
        </p:spPr>
        <p:txBody>
          <a:bodyPr wrap="square" lIns="0" tIns="0" rIns="0" bIns="0">
            <a:spAutoFit/>
          </a:bodyPr>
          <a:lstStyle/>
          <a:p>
            <a:pPr>
              <a:spcBef>
                <a:spcPts val="0"/>
              </a:spcBef>
              <a:spcAft>
                <a:spcPts val="500"/>
              </a:spcAft>
              <a:defRPr sz="1700" b="0">
                <a:solidFill>
                  <a:srgbClr val="807164"/>
                </a:solidFill>
                <a:latin typeface="맑은 고딕"/>
              </a:defRPr>
            </a:pPr>
            <a:r>
              <a:t>한국 6대 카페 프랜차이즈의</a:t>
            </a:r>
          </a:p>
          <a:p>
            <a:pPr>
              <a:spcBef>
                <a:spcPts val="0"/>
              </a:spcBef>
              <a:spcAft>
                <a:spcPts val="500"/>
              </a:spcAft>
              <a:defRPr sz="1700" b="0">
                <a:solidFill>
                  <a:srgbClr val="807164"/>
                </a:solidFill>
                <a:latin typeface="맑은 고딕"/>
              </a:defRPr>
            </a:pPr>
            <a:r>
              <a:t>원두 구성과 판매가격 데이터 분석</a:t>
            </a:r>
          </a:p>
        </p:txBody>
      </p:sp>
      <p:sp>
        <p:nvSpPr>
          <p:cNvPr id="13" name="TextBox 12"/>
          <p:cNvSpPr txBox="1"/>
          <p:nvPr/>
        </p:nvSpPr>
        <p:spPr>
          <a:xfrm>
            <a:off x="548640" y="6227064"/>
            <a:ext cx="5669280" cy="274320"/>
          </a:xfrm>
          <a:prstGeom prst="rect">
            <a:avLst/>
          </a:prstGeom>
          <a:noFill/>
        </p:spPr>
        <p:txBody>
          <a:bodyPr wrap="square" lIns="0" tIns="0" rIns="0" bIns="0">
            <a:spAutoFit/>
          </a:bodyPr>
          <a:lstStyle/>
          <a:p>
            <a:pPr>
              <a:spcBef>
                <a:spcPts val="0"/>
              </a:spcBef>
              <a:spcAft>
                <a:spcPts val="500"/>
              </a:spcAft>
              <a:defRPr sz="900" b="1">
                <a:solidFill>
                  <a:srgbClr val="30231D"/>
                </a:solidFill>
                <a:latin typeface="Arial"/>
              </a:defRPr>
            </a:pPr>
            <a:r>
              <a:t>6 BRANDS     /     PUBLIC EVIDENCE     /     2026.10.18</a:t>
            </a:r>
          </a:p>
        </p:txBody>
      </p:sp>
      <p:sp>
        <p:nvSpPr>
          <p:cNvPr id="14" name="TextBox 13"/>
          <p:cNvSpPr txBox="1"/>
          <p:nvPr/>
        </p:nvSpPr>
        <p:spPr>
          <a:xfrm>
            <a:off x="6446520" y="6492240"/>
            <a:ext cx="5029200" cy="228600"/>
          </a:xfrm>
          <a:prstGeom prst="rect">
            <a:avLst/>
          </a:prstGeom>
          <a:noFill/>
        </p:spPr>
        <p:txBody>
          <a:bodyPr wrap="square" lIns="0" tIns="0" rIns="0" bIns="0">
            <a:spAutoFit/>
          </a:bodyPr>
          <a:lstStyle/>
          <a:p>
            <a:pPr>
              <a:spcBef>
                <a:spcPts val="0"/>
              </a:spcBef>
              <a:spcAft>
                <a:spcPts val="500"/>
              </a:spcAft>
              <a:defRPr sz="800" b="0">
                <a:solidFill>
                  <a:srgbClr val="30231D"/>
                </a:solidFill>
                <a:latin typeface="맑은 고딕"/>
              </a:defRPr>
            </a:pPr>
            <a:r>
              <a:t>Google Flow AI 생성 이미지 · 실제 브랜드·품질의 증거 아님</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01 / RESEARCH QUESTION</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가격표는 보인다. 원두의 품질도 보일까?</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가설: 더 비싼 커피에는 공개 자료로 구별할 수 있는 원두 특성이 있을 것이다.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 2026.10.18 · 공개 자료 조사 · 원두 품질 순위와 인과관계를 산출하지 않음</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02 / 13</a:t>
            </a:r>
          </a:p>
        </p:txBody>
      </p:sp>
      <p:sp>
        <p:nvSpPr>
          <p:cNvPr id="9" name="Rounded Rectangle 8"/>
          <p:cNvSpPr/>
          <p:nvPr/>
        </p:nvSpPr>
        <p:spPr>
          <a:xfrm>
            <a:off x="548640" y="2971800"/>
            <a:ext cx="3337560"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136392"/>
            <a:ext cx="2935224"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OBSERVE</a:t>
            </a:r>
          </a:p>
        </p:txBody>
      </p:sp>
      <p:sp>
        <p:nvSpPr>
          <p:cNvPr id="11" name="TextBox 10"/>
          <p:cNvSpPr txBox="1"/>
          <p:nvPr/>
        </p:nvSpPr>
        <p:spPr>
          <a:xfrm>
            <a:off x="749808" y="3584448"/>
            <a:ext cx="2935224"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판매가격</a:t>
            </a:r>
          </a:p>
        </p:txBody>
      </p:sp>
      <p:sp>
        <p:nvSpPr>
          <p:cNvPr id="12" name="TextBox 11"/>
          <p:cNvSpPr txBox="1"/>
          <p:nvPr/>
        </p:nvSpPr>
        <p:spPr>
          <a:xfrm>
            <a:off x="749808" y="4480560"/>
            <a:ext cx="2935224"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HOT 기본 아메리카노의 공개 가격을 수집한다.</a:t>
            </a:r>
          </a:p>
        </p:txBody>
      </p:sp>
      <p:sp>
        <p:nvSpPr>
          <p:cNvPr id="13" name="Rounded Rectangle 12"/>
          <p:cNvSpPr/>
          <p:nvPr/>
        </p:nvSpPr>
        <p:spPr>
          <a:xfrm>
            <a:off x="4434840" y="2971800"/>
            <a:ext cx="3337560"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6007" y="3136392"/>
            <a:ext cx="2935224"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COMPARE</a:t>
            </a:r>
          </a:p>
        </p:txBody>
      </p:sp>
      <p:sp>
        <p:nvSpPr>
          <p:cNvPr id="15" name="TextBox 14"/>
          <p:cNvSpPr txBox="1"/>
          <p:nvPr/>
        </p:nvSpPr>
        <p:spPr>
          <a:xfrm>
            <a:off x="4636007" y="3584448"/>
            <a:ext cx="2935224"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원두 특성</a:t>
            </a:r>
          </a:p>
        </p:txBody>
      </p:sp>
      <p:sp>
        <p:nvSpPr>
          <p:cNvPr id="16" name="TextBox 15"/>
          <p:cNvSpPr txBox="1"/>
          <p:nvPr/>
        </p:nvSpPr>
        <p:spPr>
          <a:xfrm>
            <a:off x="4636007" y="4480560"/>
            <a:ext cx="2935224"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품종·산지·배전·인증을 구분해서 비교한다.</a:t>
            </a:r>
          </a:p>
        </p:txBody>
      </p:sp>
      <p:sp>
        <p:nvSpPr>
          <p:cNvPr id="17" name="Rounded Rectangle 16"/>
          <p:cNvSpPr/>
          <p:nvPr/>
        </p:nvSpPr>
        <p:spPr>
          <a:xfrm>
            <a:off x="8321040" y="2971800"/>
            <a:ext cx="3337560"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8" y="3136392"/>
            <a:ext cx="2935224"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TEST</a:t>
            </a:r>
          </a:p>
        </p:txBody>
      </p:sp>
      <p:sp>
        <p:nvSpPr>
          <p:cNvPr id="19" name="TextBox 18"/>
          <p:cNvSpPr txBox="1"/>
          <p:nvPr/>
        </p:nvSpPr>
        <p:spPr>
          <a:xfrm>
            <a:off x="8522208" y="3584448"/>
            <a:ext cx="2935224"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품질의 증거</a:t>
            </a:r>
          </a:p>
        </p:txBody>
      </p:sp>
      <p:sp>
        <p:nvSpPr>
          <p:cNvPr id="20" name="TextBox 19"/>
          <p:cNvSpPr txBox="1"/>
          <p:nvPr/>
        </p:nvSpPr>
        <p:spPr>
          <a:xfrm>
            <a:off x="8522208" y="4480560"/>
            <a:ext cx="2935224"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독립 점수와 관능평가가 실제로 있는지 확인한다.</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animBg="1"/>
      <p:bldP spid="14" grpId="0"/>
      <p:bldP spid="15" grpId="0"/>
      <p:bldP spid="16" grpId="0"/>
      <p:bldP spid="17" grpId="0" animBg="1"/>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02 / THE SAMPLE</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비교할 여섯 브랜드, 두 가지 시장 포지셔닝</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그룹은 연구 설계상의 구분이며, 원두 품질 등급을 뜻하지 않는다.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 2026.10.18 · 공개 자료 조사 · 원두 품질 순위와 인과관계를 산출하지 않음</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03 / 13</a:t>
            </a:r>
          </a:p>
        </p:txBody>
      </p:sp>
      <p:sp>
        <p:nvSpPr>
          <p:cNvPr id="9" name="Rounded Rectangle 8"/>
          <p:cNvSpPr/>
          <p:nvPr/>
        </p:nvSpPr>
        <p:spPr>
          <a:xfrm>
            <a:off x="548640" y="2926080"/>
            <a:ext cx="5303520" cy="502920"/>
          </a:xfrm>
          <a:prstGeom prst="roundRect">
            <a:avLst>
              <a:gd name="adj" fmla="val 8000"/>
            </a:avLst>
          </a:prstGeom>
          <a:solidFill>
            <a:srgbClr val="754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035808"/>
            <a:ext cx="4846320" cy="320040"/>
          </a:xfrm>
          <a:prstGeom prst="rect">
            <a:avLst/>
          </a:prstGeom>
          <a:noFill/>
        </p:spPr>
        <p:txBody>
          <a:bodyPr wrap="square" lIns="0" tIns="0" rIns="0" bIns="0">
            <a:spAutoFit/>
          </a:bodyPr>
          <a:lstStyle/>
          <a:p>
            <a:pPr>
              <a:spcBef>
                <a:spcPts val="0"/>
              </a:spcBef>
              <a:spcAft>
                <a:spcPts val="500"/>
              </a:spcAft>
              <a:defRPr sz="1600" b="1">
                <a:solidFill>
                  <a:srgbClr val="F4EFE6"/>
                </a:solidFill>
                <a:latin typeface="맑은 고딕"/>
              </a:defRPr>
            </a:pPr>
            <a:r>
              <a:t>A / 일반 프랜차이즈</a:t>
            </a:r>
          </a:p>
        </p:txBody>
      </p:sp>
      <p:sp>
        <p:nvSpPr>
          <p:cNvPr id="11" name="TextBox 10"/>
          <p:cNvSpPr txBox="1"/>
          <p:nvPr/>
        </p:nvSpPr>
        <p:spPr>
          <a:xfrm>
            <a:off x="749808" y="3657600"/>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01    스타벅스</a:t>
            </a:r>
          </a:p>
        </p:txBody>
      </p:sp>
      <p:sp>
        <p:nvSpPr>
          <p:cNvPr id="12" name="Rectangle 11"/>
          <p:cNvSpPr/>
          <p:nvPr/>
        </p:nvSpPr>
        <p:spPr>
          <a:xfrm>
            <a:off x="749808" y="4224528"/>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4352544"/>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02    투썸플레이스</a:t>
            </a:r>
          </a:p>
        </p:txBody>
      </p:sp>
      <p:sp>
        <p:nvSpPr>
          <p:cNvPr id="14" name="Rectangle 13"/>
          <p:cNvSpPr/>
          <p:nvPr/>
        </p:nvSpPr>
        <p:spPr>
          <a:xfrm>
            <a:off x="749808" y="4919472"/>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5047488"/>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03    폴 바셋</a:t>
            </a:r>
          </a:p>
        </p:txBody>
      </p:sp>
      <p:sp>
        <p:nvSpPr>
          <p:cNvPr id="16" name="Rectangle 15"/>
          <p:cNvSpPr/>
          <p:nvPr/>
        </p:nvSpPr>
        <p:spPr>
          <a:xfrm>
            <a:off x="749808" y="5614416"/>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79" y="2926080"/>
            <a:ext cx="5303520" cy="502920"/>
          </a:xfrm>
          <a:prstGeom prst="roundRect">
            <a:avLst>
              <a:gd name="adj" fmla="val 8000"/>
            </a:avLst>
          </a:prstGeom>
          <a:solidFill>
            <a:srgbClr val="63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59" y="3035808"/>
            <a:ext cx="4846320" cy="320040"/>
          </a:xfrm>
          <a:prstGeom prst="rect">
            <a:avLst/>
          </a:prstGeom>
          <a:noFill/>
        </p:spPr>
        <p:txBody>
          <a:bodyPr wrap="square" lIns="0" tIns="0" rIns="0" bIns="0">
            <a:spAutoFit/>
          </a:bodyPr>
          <a:lstStyle/>
          <a:p>
            <a:pPr>
              <a:spcBef>
                <a:spcPts val="0"/>
              </a:spcBef>
              <a:spcAft>
                <a:spcPts val="500"/>
              </a:spcAft>
              <a:defRPr sz="1600" b="1">
                <a:solidFill>
                  <a:srgbClr val="F4EFE6"/>
                </a:solidFill>
                <a:latin typeface="맑은 고딕"/>
              </a:defRPr>
            </a:pPr>
            <a:r>
              <a:t>B / 가성비 포지셔닝</a:t>
            </a:r>
          </a:p>
        </p:txBody>
      </p:sp>
      <p:sp>
        <p:nvSpPr>
          <p:cNvPr id="19" name="TextBox 18"/>
          <p:cNvSpPr txBox="1"/>
          <p:nvPr/>
        </p:nvSpPr>
        <p:spPr>
          <a:xfrm>
            <a:off x="6556247" y="3657600"/>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01    빽다방</a:t>
            </a:r>
          </a:p>
        </p:txBody>
      </p:sp>
      <p:sp>
        <p:nvSpPr>
          <p:cNvPr id="20" name="Rectangle 19"/>
          <p:cNvSpPr/>
          <p:nvPr/>
        </p:nvSpPr>
        <p:spPr>
          <a:xfrm>
            <a:off x="6556247" y="4224528"/>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6247" y="4352544"/>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02    텐퍼센트커피</a:t>
            </a:r>
          </a:p>
        </p:txBody>
      </p:sp>
      <p:sp>
        <p:nvSpPr>
          <p:cNvPr id="22" name="Rectangle 21"/>
          <p:cNvSpPr/>
          <p:nvPr/>
        </p:nvSpPr>
        <p:spPr>
          <a:xfrm>
            <a:off x="6556247" y="4919472"/>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56247" y="5047488"/>
            <a:ext cx="4754880" cy="502920"/>
          </a:xfrm>
          <a:prstGeom prst="rect">
            <a:avLst/>
          </a:prstGeom>
          <a:noFill/>
        </p:spPr>
        <p:txBody>
          <a:bodyPr wrap="square" lIns="0" tIns="0" rIns="0" bIns="0">
            <a:spAutoFit/>
          </a:bodyPr>
          <a:lstStyle/>
          <a:p>
            <a:pPr>
              <a:spcBef>
                <a:spcPts val="0"/>
              </a:spcBef>
              <a:spcAft>
                <a:spcPts val="500"/>
              </a:spcAft>
              <a:defRPr sz="2400" b="1">
                <a:solidFill>
                  <a:srgbClr val="30231D"/>
                </a:solidFill>
                <a:latin typeface="맑은 고딕"/>
              </a:defRPr>
            </a:pPr>
            <a:r>
              <a:t>03    컴포즈커피</a:t>
            </a:r>
          </a:p>
        </p:txBody>
      </p:sp>
      <p:sp>
        <p:nvSpPr>
          <p:cNvPr id="24" name="Rectangle 23"/>
          <p:cNvSpPr/>
          <p:nvPr/>
        </p:nvSpPr>
        <p:spPr>
          <a:xfrm>
            <a:off x="6556247" y="5614416"/>
            <a:ext cx="480060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P spid="13" grpId="0"/>
      <p:bldP spid="14" grpId="0" animBg="1"/>
      <p:bldP spid="15" grpId="0"/>
      <p:bldP spid="16" grpId="0" animBg="1"/>
      <p:bldP spid="17" grpId="0" animBg="1"/>
      <p:bldP spid="18" grpId="0"/>
      <p:bldP spid="19" grpId="0"/>
      <p:bldP spid="20" grpId="0" animBg="1"/>
      <p:bldP spid="21" grpId="0"/>
      <p:bldP spid="22" grpId="0" animBg="1"/>
      <p:bldP spid="23" grpId="0"/>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03 / EVIDENCE PIPELINE</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32개 근거 → 매장 블렌드 연결 → HOT 6건</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Firecrawl 본문 수집 후 출처·적용일·메뉴 온도·검증 상태를 사람이 읽어 정제했다.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 2026.10.18 | data/sources.csv · price_observations.csv · collection_log.csv</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04 / 13</a:t>
            </a:r>
          </a:p>
        </p:txBody>
      </p:sp>
      <p:sp>
        <p:nvSpPr>
          <p:cNvPr id="9" name="Rounded Rectangle 8"/>
          <p:cNvSpPr/>
          <p:nvPr/>
        </p:nvSpPr>
        <p:spPr>
          <a:xfrm>
            <a:off x="548640" y="2971800"/>
            <a:ext cx="2697480" cy="192024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127248"/>
            <a:ext cx="1828800" cy="365760"/>
          </a:xfrm>
          <a:prstGeom prst="rect">
            <a:avLst/>
          </a:prstGeom>
          <a:noFill/>
        </p:spPr>
        <p:txBody>
          <a:bodyPr wrap="square" lIns="0" tIns="0" rIns="0" bIns="0">
            <a:spAutoFit/>
          </a:bodyPr>
          <a:lstStyle/>
          <a:p>
            <a:pPr>
              <a:spcBef>
                <a:spcPts val="0"/>
              </a:spcBef>
              <a:spcAft>
                <a:spcPts val="500"/>
              </a:spcAft>
              <a:defRPr sz="2400" b="1">
                <a:solidFill>
                  <a:srgbClr val="B48557"/>
                </a:solidFill>
                <a:latin typeface="Arial"/>
              </a:defRPr>
            </a:pPr>
            <a:r>
              <a:t>01</a:t>
            </a:r>
          </a:p>
        </p:txBody>
      </p:sp>
      <p:sp>
        <p:nvSpPr>
          <p:cNvPr id="11" name="TextBox 10"/>
          <p:cNvSpPr txBox="1"/>
          <p:nvPr/>
        </p:nvSpPr>
        <p:spPr>
          <a:xfrm>
            <a:off x="731520" y="3639312"/>
            <a:ext cx="2331720" cy="365760"/>
          </a:xfrm>
          <a:prstGeom prst="rect">
            <a:avLst/>
          </a:prstGeom>
          <a:noFill/>
        </p:spPr>
        <p:txBody>
          <a:bodyPr wrap="square" lIns="0" tIns="0" rIns="0" bIns="0">
            <a:spAutoFit/>
          </a:bodyPr>
          <a:lstStyle/>
          <a:p>
            <a:pPr>
              <a:spcBef>
                <a:spcPts val="0"/>
              </a:spcBef>
              <a:spcAft>
                <a:spcPts val="500"/>
              </a:spcAft>
              <a:defRPr sz="1900" b="1">
                <a:solidFill>
                  <a:srgbClr val="30231D"/>
                </a:solidFill>
                <a:latin typeface="맑은 고딕"/>
              </a:defRPr>
            </a:pPr>
            <a:r>
              <a:t>공식 우선</a:t>
            </a:r>
          </a:p>
        </p:txBody>
      </p:sp>
      <p:sp>
        <p:nvSpPr>
          <p:cNvPr id="12" name="TextBox 11"/>
          <p:cNvSpPr txBox="1"/>
          <p:nvPr/>
        </p:nvSpPr>
        <p:spPr>
          <a:xfrm>
            <a:off x="731520" y="4169663"/>
            <a:ext cx="2331720" cy="640080"/>
          </a:xfrm>
          <a:prstGeom prst="rect">
            <a:avLst/>
          </a:prstGeom>
          <a:noFill/>
        </p:spPr>
        <p:txBody>
          <a:bodyPr wrap="square" lIns="0" tIns="0" rIns="0" bIns="0">
            <a:spAutoFit/>
          </a:bodyPr>
          <a:lstStyle/>
          <a:p>
            <a:pPr>
              <a:spcBef>
                <a:spcPts val="0"/>
              </a:spcBef>
              <a:spcAft>
                <a:spcPts val="500"/>
              </a:spcAft>
              <a:defRPr sz="1300" b="0">
                <a:solidFill>
                  <a:srgbClr val="807164"/>
                </a:solidFill>
                <a:latin typeface="맑은 고딕"/>
              </a:defRPr>
            </a:pPr>
            <a:r>
              <a:t>공식 원두 소개·메뉴·공정 자료</a:t>
            </a:r>
          </a:p>
        </p:txBody>
      </p:sp>
      <p:sp>
        <p:nvSpPr>
          <p:cNvPr id="13" name="Rounded Rectangle 12"/>
          <p:cNvSpPr/>
          <p:nvPr/>
        </p:nvSpPr>
        <p:spPr>
          <a:xfrm>
            <a:off x="3447288" y="2971800"/>
            <a:ext cx="2697480" cy="192024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0168" y="3127248"/>
            <a:ext cx="1828800" cy="365760"/>
          </a:xfrm>
          <a:prstGeom prst="rect">
            <a:avLst/>
          </a:prstGeom>
          <a:noFill/>
        </p:spPr>
        <p:txBody>
          <a:bodyPr wrap="square" lIns="0" tIns="0" rIns="0" bIns="0">
            <a:spAutoFit/>
          </a:bodyPr>
          <a:lstStyle/>
          <a:p>
            <a:pPr>
              <a:spcBef>
                <a:spcPts val="0"/>
              </a:spcBef>
              <a:spcAft>
                <a:spcPts val="500"/>
              </a:spcAft>
              <a:defRPr sz="2400" b="1">
                <a:solidFill>
                  <a:srgbClr val="B48557"/>
                </a:solidFill>
                <a:latin typeface="Arial"/>
              </a:defRPr>
            </a:pPr>
            <a:r>
              <a:t>02</a:t>
            </a:r>
          </a:p>
        </p:txBody>
      </p:sp>
      <p:sp>
        <p:nvSpPr>
          <p:cNvPr id="15" name="TextBox 14"/>
          <p:cNvSpPr txBox="1"/>
          <p:nvPr/>
        </p:nvSpPr>
        <p:spPr>
          <a:xfrm>
            <a:off x="3630168" y="3639312"/>
            <a:ext cx="2331720" cy="365760"/>
          </a:xfrm>
          <a:prstGeom prst="rect">
            <a:avLst/>
          </a:prstGeom>
          <a:noFill/>
        </p:spPr>
        <p:txBody>
          <a:bodyPr wrap="square" lIns="0" tIns="0" rIns="0" bIns="0">
            <a:spAutoFit/>
          </a:bodyPr>
          <a:lstStyle/>
          <a:p>
            <a:pPr>
              <a:spcBef>
                <a:spcPts val="0"/>
              </a:spcBef>
              <a:spcAft>
                <a:spcPts val="500"/>
              </a:spcAft>
              <a:defRPr sz="1900" b="1">
                <a:solidFill>
                  <a:srgbClr val="30231D"/>
                </a:solidFill>
                <a:latin typeface="맑은 고딕"/>
              </a:defRPr>
            </a:pPr>
            <a:r>
              <a:t>원문 수집</a:t>
            </a:r>
          </a:p>
        </p:txBody>
      </p:sp>
      <p:sp>
        <p:nvSpPr>
          <p:cNvPr id="16" name="TextBox 15"/>
          <p:cNvSpPr txBox="1"/>
          <p:nvPr/>
        </p:nvSpPr>
        <p:spPr>
          <a:xfrm>
            <a:off x="3630168" y="4169663"/>
            <a:ext cx="2331720" cy="640080"/>
          </a:xfrm>
          <a:prstGeom prst="rect">
            <a:avLst/>
          </a:prstGeom>
          <a:noFill/>
        </p:spPr>
        <p:txBody>
          <a:bodyPr wrap="square" lIns="0" tIns="0" rIns="0" bIns="0">
            <a:spAutoFit/>
          </a:bodyPr>
          <a:lstStyle/>
          <a:p>
            <a:pPr>
              <a:spcBef>
                <a:spcPts val="0"/>
              </a:spcBef>
              <a:spcAft>
                <a:spcPts val="500"/>
              </a:spcAft>
              <a:defRPr sz="1300" b="0">
                <a:solidFill>
                  <a:srgbClr val="807164"/>
                </a:solidFill>
                <a:latin typeface="맑은 고딕"/>
              </a:defRPr>
            </a:pPr>
            <a:r>
              <a:t>Firecrawl + 공개 웹·HTTP</a:t>
            </a:r>
          </a:p>
        </p:txBody>
      </p:sp>
      <p:sp>
        <p:nvSpPr>
          <p:cNvPr id="17" name="Rounded Rectangle 16"/>
          <p:cNvSpPr/>
          <p:nvPr/>
        </p:nvSpPr>
        <p:spPr>
          <a:xfrm>
            <a:off x="6345936" y="2971800"/>
            <a:ext cx="2697480" cy="192024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8816" y="3127248"/>
            <a:ext cx="1828800" cy="365760"/>
          </a:xfrm>
          <a:prstGeom prst="rect">
            <a:avLst/>
          </a:prstGeom>
          <a:noFill/>
        </p:spPr>
        <p:txBody>
          <a:bodyPr wrap="square" lIns="0" tIns="0" rIns="0" bIns="0">
            <a:spAutoFit/>
          </a:bodyPr>
          <a:lstStyle/>
          <a:p>
            <a:pPr>
              <a:spcBef>
                <a:spcPts val="0"/>
              </a:spcBef>
              <a:spcAft>
                <a:spcPts val="500"/>
              </a:spcAft>
              <a:defRPr sz="2400" b="1">
                <a:solidFill>
                  <a:srgbClr val="B48557"/>
                </a:solidFill>
                <a:latin typeface="Arial"/>
              </a:defRPr>
            </a:pPr>
            <a:r>
              <a:t>03</a:t>
            </a:r>
          </a:p>
        </p:txBody>
      </p:sp>
      <p:sp>
        <p:nvSpPr>
          <p:cNvPr id="19" name="TextBox 18"/>
          <p:cNvSpPr txBox="1"/>
          <p:nvPr/>
        </p:nvSpPr>
        <p:spPr>
          <a:xfrm>
            <a:off x="6528816" y="3639312"/>
            <a:ext cx="2331720" cy="365760"/>
          </a:xfrm>
          <a:prstGeom prst="rect">
            <a:avLst/>
          </a:prstGeom>
          <a:noFill/>
        </p:spPr>
        <p:txBody>
          <a:bodyPr wrap="square" lIns="0" tIns="0" rIns="0" bIns="0">
            <a:spAutoFit/>
          </a:bodyPr>
          <a:lstStyle/>
          <a:p>
            <a:pPr>
              <a:spcBef>
                <a:spcPts val="0"/>
              </a:spcBef>
              <a:spcAft>
                <a:spcPts val="500"/>
              </a:spcAft>
              <a:defRPr sz="1900" b="1">
                <a:solidFill>
                  <a:srgbClr val="30231D"/>
                </a:solidFill>
                <a:latin typeface="맑은 고딕"/>
              </a:defRPr>
            </a:pPr>
            <a:r>
              <a:t>교차 검토</a:t>
            </a:r>
          </a:p>
        </p:txBody>
      </p:sp>
      <p:sp>
        <p:nvSpPr>
          <p:cNvPr id="20" name="TextBox 19"/>
          <p:cNvSpPr txBox="1"/>
          <p:nvPr/>
        </p:nvSpPr>
        <p:spPr>
          <a:xfrm>
            <a:off x="6528816" y="4169663"/>
            <a:ext cx="2331720" cy="640080"/>
          </a:xfrm>
          <a:prstGeom prst="rect">
            <a:avLst/>
          </a:prstGeom>
          <a:noFill/>
        </p:spPr>
        <p:txBody>
          <a:bodyPr wrap="square" lIns="0" tIns="0" rIns="0" bIns="0">
            <a:spAutoFit/>
          </a:bodyPr>
          <a:lstStyle/>
          <a:p>
            <a:pPr>
              <a:spcBef>
                <a:spcPts val="0"/>
              </a:spcBef>
              <a:spcAft>
                <a:spcPts val="500"/>
              </a:spcAft>
              <a:defRPr sz="1300" b="0">
                <a:solidFill>
                  <a:srgbClr val="807164"/>
                </a:solidFill>
                <a:latin typeface="맑은 고딕"/>
              </a:defRPr>
            </a:pPr>
            <a:r>
              <a:t>온도·시점·제품 적용 범위 분리</a:t>
            </a:r>
          </a:p>
        </p:txBody>
      </p:sp>
      <p:sp>
        <p:nvSpPr>
          <p:cNvPr id="21" name="Rounded Rectangle 20"/>
          <p:cNvSpPr/>
          <p:nvPr/>
        </p:nvSpPr>
        <p:spPr>
          <a:xfrm>
            <a:off x="9244584" y="2971800"/>
            <a:ext cx="2697480" cy="192024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27463" y="3127248"/>
            <a:ext cx="1828800" cy="365760"/>
          </a:xfrm>
          <a:prstGeom prst="rect">
            <a:avLst/>
          </a:prstGeom>
          <a:noFill/>
        </p:spPr>
        <p:txBody>
          <a:bodyPr wrap="square" lIns="0" tIns="0" rIns="0" bIns="0">
            <a:spAutoFit/>
          </a:bodyPr>
          <a:lstStyle/>
          <a:p>
            <a:pPr>
              <a:spcBef>
                <a:spcPts val="0"/>
              </a:spcBef>
              <a:spcAft>
                <a:spcPts val="500"/>
              </a:spcAft>
              <a:defRPr sz="2400" b="1">
                <a:solidFill>
                  <a:srgbClr val="B48557"/>
                </a:solidFill>
                <a:latin typeface="Arial"/>
              </a:defRPr>
            </a:pPr>
            <a:r>
              <a:t>04</a:t>
            </a:r>
          </a:p>
        </p:txBody>
      </p:sp>
      <p:sp>
        <p:nvSpPr>
          <p:cNvPr id="23" name="TextBox 22"/>
          <p:cNvSpPr txBox="1"/>
          <p:nvPr/>
        </p:nvSpPr>
        <p:spPr>
          <a:xfrm>
            <a:off x="9427463" y="3639312"/>
            <a:ext cx="2331720" cy="365760"/>
          </a:xfrm>
          <a:prstGeom prst="rect">
            <a:avLst/>
          </a:prstGeom>
          <a:noFill/>
        </p:spPr>
        <p:txBody>
          <a:bodyPr wrap="square" lIns="0" tIns="0" rIns="0" bIns="0">
            <a:spAutoFit/>
          </a:bodyPr>
          <a:lstStyle/>
          <a:p>
            <a:pPr>
              <a:spcBef>
                <a:spcPts val="0"/>
              </a:spcBef>
              <a:spcAft>
                <a:spcPts val="500"/>
              </a:spcAft>
              <a:defRPr sz="1900" b="1">
                <a:solidFill>
                  <a:srgbClr val="30231D"/>
                </a:solidFill>
                <a:latin typeface="맑은 고딕"/>
              </a:defRPr>
            </a:pPr>
            <a:r>
              <a:t>분석 데이터</a:t>
            </a:r>
          </a:p>
        </p:txBody>
      </p:sp>
      <p:sp>
        <p:nvSpPr>
          <p:cNvPr id="24" name="TextBox 23"/>
          <p:cNvSpPr txBox="1"/>
          <p:nvPr/>
        </p:nvSpPr>
        <p:spPr>
          <a:xfrm>
            <a:off x="9427463" y="4169663"/>
            <a:ext cx="2331720" cy="640080"/>
          </a:xfrm>
          <a:prstGeom prst="rect">
            <a:avLst/>
          </a:prstGeom>
          <a:noFill/>
        </p:spPr>
        <p:txBody>
          <a:bodyPr wrap="square" lIns="0" tIns="0" rIns="0" bIns="0">
            <a:spAutoFit/>
          </a:bodyPr>
          <a:lstStyle/>
          <a:p>
            <a:pPr>
              <a:spcBef>
                <a:spcPts val="0"/>
              </a:spcBef>
              <a:spcAft>
                <a:spcPts val="500"/>
              </a:spcAft>
              <a:defRPr sz="1300" b="0">
                <a:solidFill>
                  <a:srgbClr val="807164"/>
                </a:solidFill>
                <a:latin typeface="맑은 고딕"/>
              </a:defRPr>
            </a:pPr>
            <a:r>
              <a:t>미확보와 미공개를 구분</a:t>
            </a:r>
          </a:p>
        </p:txBody>
      </p:sp>
      <p:sp>
        <p:nvSpPr>
          <p:cNvPr id="25" name="TextBox 24"/>
          <p:cNvSpPr txBox="1"/>
          <p:nvPr/>
        </p:nvSpPr>
        <p:spPr>
          <a:xfrm>
            <a:off x="594360" y="5257800"/>
            <a:ext cx="2468880" cy="320040"/>
          </a:xfrm>
          <a:prstGeom prst="rect">
            <a:avLst/>
          </a:prstGeom>
          <a:noFill/>
        </p:spPr>
        <p:txBody>
          <a:bodyPr wrap="square" lIns="0" tIns="0" rIns="0" bIns="0">
            <a:spAutoFit/>
          </a:bodyPr>
          <a:lstStyle/>
          <a:p>
            <a:pPr>
              <a:spcBef>
                <a:spcPts val="0"/>
              </a:spcBef>
              <a:spcAft>
                <a:spcPts val="500"/>
              </a:spcAft>
              <a:defRPr sz="1400" b="1">
                <a:solidFill>
                  <a:srgbClr val="63765D"/>
                </a:solidFill>
                <a:latin typeface="Arial"/>
              </a:defRPr>
            </a:pPr>
            <a:r>
              <a:t>verified</a:t>
            </a:r>
          </a:p>
        </p:txBody>
      </p:sp>
      <p:sp>
        <p:nvSpPr>
          <p:cNvPr id="26" name="TextBox 25"/>
          <p:cNvSpPr txBox="1"/>
          <p:nvPr/>
        </p:nvSpPr>
        <p:spPr>
          <a:xfrm>
            <a:off x="594360" y="5669280"/>
            <a:ext cx="2560320" cy="320040"/>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공식 문구/원문 확인</a:t>
            </a:r>
          </a:p>
        </p:txBody>
      </p:sp>
      <p:sp>
        <p:nvSpPr>
          <p:cNvPr id="27" name="TextBox 26"/>
          <p:cNvSpPr txBox="1"/>
          <p:nvPr/>
        </p:nvSpPr>
        <p:spPr>
          <a:xfrm>
            <a:off x="3520440" y="5257800"/>
            <a:ext cx="2468880" cy="320040"/>
          </a:xfrm>
          <a:prstGeom prst="rect">
            <a:avLst/>
          </a:prstGeom>
          <a:noFill/>
        </p:spPr>
        <p:txBody>
          <a:bodyPr wrap="square" lIns="0" tIns="0" rIns="0" bIns="0">
            <a:spAutoFit/>
          </a:bodyPr>
          <a:lstStyle/>
          <a:p>
            <a:pPr>
              <a:spcBef>
                <a:spcPts val="0"/>
              </a:spcBef>
              <a:spcAft>
                <a:spcPts val="500"/>
              </a:spcAft>
              <a:defRPr sz="1400" b="1">
                <a:solidFill>
                  <a:srgbClr val="754B36"/>
                </a:solidFill>
                <a:latin typeface="Arial"/>
              </a:defRPr>
            </a:pPr>
            <a:r>
              <a:t>reported</a:t>
            </a:r>
          </a:p>
        </p:txBody>
      </p:sp>
      <p:sp>
        <p:nvSpPr>
          <p:cNvPr id="28" name="TextBox 27"/>
          <p:cNvSpPr txBox="1"/>
          <p:nvPr/>
        </p:nvSpPr>
        <p:spPr>
          <a:xfrm>
            <a:off x="3520440" y="5669280"/>
            <a:ext cx="2560320" cy="320040"/>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외부 보도·재게시</a:t>
            </a:r>
          </a:p>
        </p:txBody>
      </p:sp>
      <p:sp>
        <p:nvSpPr>
          <p:cNvPr id="29" name="TextBox 28"/>
          <p:cNvSpPr txBox="1"/>
          <p:nvPr/>
        </p:nvSpPr>
        <p:spPr>
          <a:xfrm>
            <a:off x="6446520" y="5257800"/>
            <a:ext cx="2468880" cy="320040"/>
          </a:xfrm>
          <a:prstGeom prst="rect">
            <a:avLst/>
          </a:prstGeom>
          <a:noFill/>
        </p:spPr>
        <p:txBody>
          <a:bodyPr wrap="square" lIns="0" tIns="0" rIns="0" bIns="0">
            <a:spAutoFit/>
          </a:bodyPr>
          <a:lstStyle/>
          <a:p>
            <a:pPr>
              <a:spcBef>
                <a:spcPts val="0"/>
              </a:spcBef>
              <a:spcAft>
                <a:spcPts val="500"/>
              </a:spcAft>
              <a:defRPr sz="1400" b="1">
                <a:solidFill>
                  <a:srgbClr val="B48557"/>
                </a:solidFill>
                <a:latin typeface="Arial"/>
              </a:defRPr>
            </a:pPr>
            <a:r>
              <a:t>claimed</a:t>
            </a:r>
          </a:p>
        </p:txBody>
      </p:sp>
      <p:sp>
        <p:nvSpPr>
          <p:cNvPr id="30" name="TextBox 29"/>
          <p:cNvSpPr txBox="1"/>
          <p:nvPr/>
        </p:nvSpPr>
        <p:spPr>
          <a:xfrm>
            <a:off x="6446520" y="5669280"/>
            <a:ext cx="2560320" cy="320040"/>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브랜드의 품질 주장</a:t>
            </a:r>
          </a:p>
        </p:txBody>
      </p:sp>
      <p:sp>
        <p:nvSpPr>
          <p:cNvPr id="31" name="TextBox 30"/>
          <p:cNvSpPr txBox="1"/>
          <p:nvPr/>
        </p:nvSpPr>
        <p:spPr>
          <a:xfrm>
            <a:off x="9372600" y="5257800"/>
            <a:ext cx="2468880" cy="320040"/>
          </a:xfrm>
          <a:prstGeom prst="rect">
            <a:avLst/>
          </a:prstGeom>
          <a:noFill/>
        </p:spPr>
        <p:txBody>
          <a:bodyPr wrap="square" lIns="0" tIns="0" rIns="0" bIns="0">
            <a:spAutoFit/>
          </a:bodyPr>
          <a:lstStyle/>
          <a:p>
            <a:pPr>
              <a:spcBef>
                <a:spcPts val="0"/>
              </a:spcBef>
              <a:spcAft>
                <a:spcPts val="500"/>
              </a:spcAft>
              <a:defRPr sz="1400" b="1">
                <a:solidFill>
                  <a:srgbClr val="807164"/>
                </a:solidFill>
                <a:latin typeface="Arial"/>
              </a:defRPr>
            </a:pPr>
            <a:r>
              <a:t>unknown</a:t>
            </a:r>
          </a:p>
        </p:txBody>
      </p:sp>
      <p:sp>
        <p:nvSpPr>
          <p:cNvPr id="32" name="TextBox 31"/>
          <p:cNvSpPr txBox="1"/>
          <p:nvPr/>
        </p:nvSpPr>
        <p:spPr>
          <a:xfrm>
            <a:off x="9372600" y="5669280"/>
            <a:ext cx="2560320" cy="320040"/>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미확인·미공개</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par>
                          <p:cTn id="68" fill="hold">
                            <p:stCondLst>
                              <p:cond delay="4400"/>
                            </p:stCondLst>
                            <p:childTnLst>
                              <p:par>
                                <p:cTn id="69" presetID="10" presetClass="entr" presetSubtype="0" fill="hold" grpId="0" nodeType="afterEffect">
                                  <p:stCondLst>
                                    <p:cond delay="25"/>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250"/>
                                        <p:tgtEl>
                                          <p:spTgt spid="25"/>
                                        </p:tgtEl>
                                      </p:cBhvr>
                                    </p:animEffect>
                                  </p:childTnLst>
                                </p:cTn>
                              </p:par>
                            </p:childTnLst>
                          </p:cTn>
                        </p:par>
                        <p:par>
                          <p:cTn id="72" fill="hold">
                            <p:stCondLst>
                              <p:cond delay="4675"/>
                            </p:stCondLst>
                            <p:childTnLst>
                              <p:par>
                                <p:cTn id="73" presetID="10" presetClass="entr" presetSubtype="0" fill="hold" grpId="0" nodeType="afterEffect">
                                  <p:stCondLst>
                                    <p:cond delay="25"/>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4950"/>
                            </p:stCondLst>
                            <p:childTnLst>
                              <p:par>
                                <p:cTn id="77" presetID="10" presetClass="entr" presetSubtype="0" fill="hold" grpId="0" nodeType="afterEffect">
                                  <p:stCondLst>
                                    <p:cond delay="25"/>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50"/>
                                        <p:tgtEl>
                                          <p:spTgt spid="27"/>
                                        </p:tgtEl>
                                      </p:cBhvr>
                                    </p:animEffect>
                                  </p:childTnLst>
                                </p:cTn>
                              </p:par>
                            </p:childTnLst>
                          </p:cTn>
                        </p:par>
                        <p:par>
                          <p:cTn id="80" fill="hold">
                            <p:stCondLst>
                              <p:cond delay="5225"/>
                            </p:stCondLst>
                            <p:childTnLst>
                              <p:par>
                                <p:cTn id="81" presetID="10" presetClass="entr" presetSubtype="0" fill="hold" grpId="0" nodeType="afterEffect">
                                  <p:stCondLst>
                                    <p:cond delay="25"/>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250"/>
                                        <p:tgtEl>
                                          <p:spTgt spid="28"/>
                                        </p:tgtEl>
                                      </p:cBhvr>
                                    </p:animEffect>
                                  </p:childTnLst>
                                </p:cTn>
                              </p:par>
                            </p:childTnLst>
                          </p:cTn>
                        </p:par>
                        <p:par>
                          <p:cTn id="84" fill="hold">
                            <p:stCondLst>
                              <p:cond delay="5500"/>
                            </p:stCondLst>
                            <p:childTnLst>
                              <p:par>
                                <p:cTn id="85" presetID="10" presetClass="entr" presetSubtype="0" fill="hold" grpId="0" nodeType="afterEffect">
                                  <p:stCondLst>
                                    <p:cond delay="25"/>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50"/>
                                        <p:tgtEl>
                                          <p:spTgt spid="29"/>
                                        </p:tgtEl>
                                      </p:cBhvr>
                                    </p:animEffect>
                                  </p:childTnLst>
                                </p:cTn>
                              </p:par>
                            </p:childTnLst>
                          </p:cTn>
                        </p:par>
                        <p:par>
                          <p:cTn id="88" fill="hold">
                            <p:stCondLst>
                              <p:cond delay="5775"/>
                            </p:stCondLst>
                            <p:childTnLst>
                              <p:par>
                                <p:cTn id="89" presetID="10" presetClass="entr" presetSubtype="0" fill="hold" grpId="0" nodeType="afterEffect">
                                  <p:stCondLst>
                                    <p:cond delay="25"/>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250"/>
                                        <p:tgtEl>
                                          <p:spTgt spid="30"/>
                                        </p:tgtEl>
                                      </p:cBhvr>
                                    </p:animEffect>
                                  </p:childTnLst>
                                </p:cTn>
                              </p:par>
                            </p:childTnLst>
                          </p:cTn>
                        </p:par>
                        <p:par>
                          <p:cTn id="92" fill="hold">
                            <p:stCondLst>
                              <p:cond delay="6050"/>
                            </p:stCondLst>
                            <p:childTnLst>
                              <p:par>
                                <p:cTn id="93" presetID="10" presetClass="entr" presetSubtype="0" fill="hold" grpId="0" nodeType="afterEffect">
                                  <p:stCondLst>
                                    <p:cond delay="25"/>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250"/>
                                        <p:tgtEl>
                                          <p:spTgt spid="31"/>
                                        </p:tgtEl>
                                      </p:cBhvr>
                                    </p:animEffect>
                                  </p:childTnLst>
                                </p:cTn>
                              </p:par>
                            </p:childTnLst>
                          </p:cTn>
                        </p:par>
                        <p:par>
                          <p:cTn id="96" fill="hold">
                            <p:stCondLst>
                              <p:cond delay="6325"/>
                            </p:stCondLst>
                            <p:childTnLst>
                              <p:par>
                                <p:cTn id="97" presetID="10" presetClass="entr" presetSubtype="0" fill="hold" grpId="0" nodeType="afterEffect">
                                  <p:stCondLst>
                                    <p:cond delay="25"/>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2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animBg="1"/>
      <p:bldP spid="14" grpId="0"/>
      <p:bldP spid="15" grpId="0"/>
      <p:bldP spid="16" grpId="0"/>
      <p:bldP spid="17" grpId="0" animBg="1"/>
      <p:bldP spid="18" grpId="0"/>
      <p:bldP spid="19" grpId="0"/>
      <p:bldP spid="20" grpId="0"/>
      <p:bldP spid="21" grpId="0" animBg="1"/>
      <p:bldP spid="22" grpId="0"/>
      <p:bldP spid="23" grpId="0"/>
      <p:bldP spid="24" grpId="0"/>
      <p:bldP spid="25" grpId="0"/>
      <p:bldP spid="26" grpId="0"/>
      <p:bldP spid="27" grpId="0"/>
      <p:bldP spid="28" grpId="0"/>
      <p:bldP spid="29" grpId="0"/>
      <p:bldP spid="30" grpId="0"/>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04 / THE PRICE GAP</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관측 가격 차이는 최대 3,200원, 약 3.13배</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동일시점 실매장 조사 아님 · 판매량 가중치 없는 공개 가격 관측값</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S04·S08·S31·S12·S14·S17 | 적용 2025.01–05 및 적용일 미확인 매장 자료 · 수집 2026.10.18</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05 / 13</a:t>
            </a:r>
          </a:p>
        </p:txBody>
      </p:sp>
      <p:graphicFrame>
        <p:nvGraphicFramePr>
          <p:cNvPr id="9" name="Chart 8"/>
          <p:cNvGraphicFramePr>
            <a:graphicFrameLocks noGrp="1"/>
          </p:cNvGraphicFramePr>
          <p:nvPr/>
        </p:nvGraphicFramePr>
        <p:xfrm>
          <a:off x="411480" y="2788920"/>
          <a:ext cx="7772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8549640" y="2926080"/>
            <a:ext cx="3017520" cy="777240"/>
          </a:xfrm>
          <a:prstGeom prst="rect">
            <a:avLst/>
          </a:prstGeom>
          <a:noFill/>
        </p:spPr>
        <p:txBody>
          <a:bodyPr wrap="square" lIns="0" tIns="0" rIns="0" bIns="0">
            <a:spAutoFit/>
          </a:bodyPr>
          <a:lstStyle/>
          <a:p>
            <a:pPr>
              <a:spcBef>
                <a:spcPts val="0"/>
              </a:spcBef>
              <a:spcAft>
                <a:spcPts val="500"/>
              </a:spcAft>
              <a:defRPr sz="4400" b="1">
                <a:solidFill>
                  <a:srgbClr val="754B36"/>
                </a:solidFill>
                <a:latin typeface="Georgia"/>
              </a:defRPr>
            </a:pPr>
            <a:r>
              <a:t>3.13×</a:t>
            </a:r>
          </a:p>
        </p:txBody>
      </p:sp>
      <p:sp>
        <p:nvSpPr>
          <p:cNvPr id="11" name="TextBox 10"/>
          <p:cNvSpPr txBox="1"/>
          <p:nvPr/>
        </p:nvSpPr>
        <p:spPr>
          <a:xfrm>
            <a:off x="8595360" y="3794760"/>
            <a:ext cx="2743200" cy="365760"/>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자료상 최고 / 최저</a:t>
            </a:r>
          </a:p>
        </p:txBody>
      </p:sp>
      <p:graphicFrame>
        <p:nvGraphicFramePr>
          <p:cNvPr id="12" name="Chart 11"/>
          <p:cNvGraphicFramePr>
            <a:graphicFrameLocks noGrp="1"/>
          </p:cNvGraphicFramePr>
          <p:nvPr/>
        </p:nvGraphicFramePr>
        <p:xfrm>
          <a:off x="8366760" y="4315968"/>
          <a:ext cx="3337560" cy="132588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8595360" y="5687568"/>
            <a:ext cx="2834640" cy="594360"/>
          </a:xfrm>
          <a:prstGeom prst="rect">
            <a:avLst/>
          </a:prstGeom>
          <a:noFill/>
        </p:spPr>
        <p:txBody>
          <a:bodyPr wrap="square" lIns="0" tIns="0" rIns="0" bIns="0">
            <a:spAutoFit/>
          </a:bodyPr>
          <a:lstStyle/>
          <a:p>
            <a:pPr>
              <a:spcBef>
                <a:spcPts val="0"/>
              </a:spcBef>
              <a:spcAft>
                <a:spcPts val="500"/>
              </a:spcAft>
              <a:defRPr sz="1000" b="0">
                <a:solidFill>
                  <a:srgbClr val="807164"/>
                </a:solidFill>
                <a:latin typeface="맑은 고딕"/>
              </a:defRPr>
            </a:pPr>
            <a:r>
              <a:t>각 3개 관측값의 단순 평균</a:t>
            </a:r>
          </a:p>
          <a:p>
            <a:pPr>
              <a:spcBef>
                <a:spcPts val="0"/>
              </a:spcBef>
              <a:spcAft>
                <a:spcPts val="500"/>
              </a:spcAft>
              <a:defRPr sz="1000" b="0">
                <a:solidFill>
                  <a:srgbClr val="807164"/>
                </a:solidFill>
                <a:latin typeface="맑은 고딕"/>
              </a:defRPr>
            </a:pPr>
            <a:r>
              <a:t>전국 시장 평균을 의미하지 않음</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1100"/>
                                        <p:tgtEl>
                                          <p:spTgt spid="9"/>
                                        </p:tgtEl>
                                      </p:cBhvr>
                                    </p:animEffect>
                                  </p:childTnLst>
                                </p:cTn>
                              </p:par>
                            </p:childTnLst>
                          </p:cTn>
                        </p:par>
                        <p:par>
                          <p:cTn id="8" fill="hold">
                            <p:stCondLst>
                              <p:cond delay="1100"/>
                            </p:stCondLst>
                            <p:childTnLst>
                              <p:par>
                                <p:cTn id="9" presetID="22" presetClass="entr" presetSubtype="2"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11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05 / RECIPE DISCLOSURE</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원두를 쓴다는 사실과 배합 비율은 다르다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품종 비율을 현재 비교 범위에 연결해 확인한 브랜드는 1/6</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S01·S06·S13·S24–S30 | 파스쿠찌 제외·폴 바셋 대체 · 품종 비율과 스페셜티 함량은 별개</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06 / 13</a:t>
            </a:r>
          </a:p>
        </p:txBody>
      </p:sp>
      <p:sp>
        <p:nvSpPr>
          <p:cNvPr id="9" name="TextBox 8"/>
          <p:cNvSpPr txBox="1"/>
          <p:nvPr/>
        </p:nvSpPr>
        <p:spPr>
          <a:xfrm>
            <a:off x="594360" y="2889504"/>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스타벅스</a:t>
            </a:r>
          </a:p>
        </p:txBody>
      </p:sp>
      <p:sp>
        <p:nvSpPr>
          <p:cNvPr id="10" name="Rounded Rectangle 9"/>
          <p:cNvSpPr/>
          <p:nvPr/>
        </p:nvSpPr>
        <p:spPr>
          <a:xfrm>
            <a:off x="2606040" y="2907792"/>
            <a:ext cx="5394960" cy="265176"/>
          </a:xfrm>
          <a:prstGeom prst="roundRect">
            <a:avLst>
              <a:gd name="adj" fmla="val 8000"/>
            </a:avLst>
          </a:prstGeom>
          <a:solidFill>
            <a:srgbClr val="754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9776" y="2926080"/>
            <a:ext cx="5029200" cy="246888"/>
          </a:xfrm>
          <a:prstGeom prst="rect">
            <a:avLst/>
          </a:prstGeom>
          <a:noFill/>
        </p:spPr>
        <p:txBody>
          <a:bodyPr wrap="square" lIns="0" tIns="0" rIns="0" bIns="0">
            <a:spAutoFit/>
          </a:bodyPr>
          <a:lstStyle/>
          <a:p>
            <a:pPr>
              <a:spcBef>
                <a:spcPts val="0"/>
              </a:spcBef>
              <a:spcAft>
                <a:spcPts val="500"/>
              </a:spcAft>
              <a:defRPr sz="1100" b="0">
                <a:solidFill>
                  <a:srgbClr val="F4EFE6"/>
                </a:solidFill>
                <a:latin typeface="맑은 고딕"/>
              </a:defRPr>
            </a:pPr>
            <a:r>
              <a:t>아라비카 100%</a:t>
            </a:r>
          </a:p>
        </p:txBody>
      </p:sp>
      <p:sp>
        <p:nvSpPr>
          <p:cNvPr id="12" name="TextBox 11"/>
          <p:cNvSpPr txBox="1"/>
          <p:nvPr/>
        </p:nvSpPr>
        <p:spPr>
          <a:xfrm>
            <a:off x="594360" y="3337560"/>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투썸플레이스</a:t>
            </a:r>
          </a:p>
        </p:txBody>
      </p:sp>
      <p:sp>
        <p:nvSpPr>
          <p:cNvPr id="13" name="Rounded Rectangle 12"/>
          <p:cNvSpPr/>
          <p:nvPr/>
        </p:nvSpPr>
        <p:spPr>
          <a:xfrm>
            <a:off x="2606040" y="3355848"/>
            <a:ext cx="5394960" cy="26517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79776" y="3374136"/>
            <a:ext cx="5029200" cy="246888"/>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이번 조사에서 비율 근거 미확보</a:t>
            </a:r>
          </a:p>
        </p:txBody>
      </p:sp>
      <p:sp>
        <p:nvSpPr>
          <p:cNvPr id="15" name="TextBox 14"/>
          <p:cNvSpPr txBox="1"/>
          <p:nvPr/>
        </p:nvSpPr>
        <p:spPr>
          <a:xfrm>
            <a:off x="594360" y="3785616"/>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폴 바셋</a:t>
            </a:r>
          </a:p>
        </p:txBody>
      </p:sp>
      <p:sp>
        <p:nvSpPr>
          <p:cNvPr id="16" name="Rounded Rectangle 15"/>
          <p:cNvSpPr/>
          <p:nvPr/>
        </p:nvSpPr>
        <p:spPr>
          <a:xfrm>
            <a:off x="2606040" y="3803904"/>
            <a:ext cx="5394960" cy="26517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79776" y="3822192"/>
            <a:ext cx="5029200" cy="246888"/>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이번 조사에서 비율 근거 미확보</a:t>
            </a:r>
          </a:p>
        </p:txBody>
      </p:sp>
      <p:sp>
        <p:nvSpPr>
          <p:cNvPr id="18" name="TextBox 17"/>
          <p:cNvSpPr txBox="1"/>
          <p:nvPr/>
        </p:nvSpPr>
        <p:spPr>
          <a:xfrm>
            <a:off x="594360" y="4233672"/>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빽다방</a:t>
            </a:r>
          </a:p>
        </p:txBody>
      </p:sp>
      <p:sp>
        <p:nvSpPr>
          <p:cNvPr id="19" name="Rounded Rectangle 18"/>
          <p:cNvSpPr/>
          <p:nvPr/>
        </p:nvSpPr>
        <p:spPr>
          <a:xfrm>
            <a:off x="2606040" y="4251959"/>
            <a:ext cx="5394960" cy="26517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79776" y="4270248"/>
            <a:ext cx="5029200" cy="246888"/>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이번 조사에서 비율 근거 미확보</a:t>
            </a:r>
          </a:p>
        </p:txBody>
      </p:sp>
      <p:sp>
        <p:nvSpPr>
          <p:cNvPr id="21" name="TextBox 20"/>
          <p:cNvSpPr txBox="1"/>
          <p:nvPr/>
        </p:nvSpPr>
        <p:spPr>
          <a:xfrm>
            <a:off x="594360" y="4681728"/>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텐퍼센트커피</a:t>
            </a:r>
          </a:p>
        </p:txBody>
      </p:sp>
      <p:sp>
        <p:nvSpPr>
          <p:cNvPr id="22" name="Rounded Rectangle 21"/>
          <p:cNvSpPr/>
          <p:nvPr/>
        </p:nvSpPr>
        <p:spPr>
          <a:xfrm>
            <a:off x="2606040" y="4700016"/>
            <a:ext cx="5394960" cy="26517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79776" y="4718304"/>
            <a:ext cx="5029200" cy="246888"/>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이번 조사에서 비율 근거 미확보</a:t>
            </a:r>
          </a:p>
        </p:txBody>
      </p:sp>
      <p:sp>
        <p:nvSpPr>
          <p:cNvPr id="24" name="TextBox 23"/>
          <p:cNvSpPr txBox="1"/>
          <p:nvPr/>
        </p:nvSpPr>
        <p:spPr>
          <a:xfrm>
            <a:off x="594360" y="5129784"/>
            <a:ext cx="1828800" cy="320040"/>
          </a:xfrm>
          <a:prstGeom prst="rect">
            <a:avLst/>
          </a:prstGeom>
          <a:noFill/>
        </p:spPr>
        <p:txBody>
          <a:bodyPr wrap="square" lIns="0" tIns="0" rIns="0" bIns="0">
            <a:spAutoFit/>
          </a:bodyPr>
          <a:lstStyle/>
          <a:p>
            <a:pPr>
              <a:spcBef>
                <a:spcPts val="0"/>
              </a:spcBef>
              <a:spcAft>
                <a:spcPts val="500"/>
              </a:spcAft>
              <a:defRPr sz="1400" b="1">
                <a:solidFill>
                  <a:srgbClr val="30231D"/>
                </a:solidFill>
                <a:latin typeface="맑은 고딕"/>
              </a:defRPr>
            </a:pPr>
            <a:r>
              <a:t>컴포즈커피</a:t>
            </a:r>
          </a:p>
        </p:txBody>
      </p:sp>
      <p:sp>
        <p:nvSpPr>
          <p:cNvPr id="25" name="Rounded Rectangle 24"/>
          <p:cNvSpPr/>
          <p:nvPr/>
        </p:nvSpPr>
        <p:spPr>
          <a:xfrm>
            <a:off x="2606040" y="5148072"/>
            <a:ext cx="5394960" cy="26517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79776" y="5166360"/>
            <a:ext cx="5029200" cy="246888"/>
          </a:xfrm>
          <a:prstGeom prst="rect">
            <a:avLst/>
          </a:prstGeom>
          <a:noFill/>
        </p:spPr>
        <p:txBody>
          <a:bodyPr wrap="square" lIns="0" tIns="0" rIns="0" bIns="0">
            <a:spAutoFit/>
          </a:bodyPr>
          <a:lstStyle/>
          <a:p>
            <a:pPr>
              <a:spcBef>
                <a:spcPts val="0"/>
              </a:spcBef>
              <a:spcAft>
                <a:spcPts val="500"/>
              </a:spcAft>
              <a:defRPr sz="1100" b="0">
                <a:solidFill>
                  <a:srgbClr val="807164"/>
                </a:solidFill>
                <a:latin typeface="맑은 고딕"/>
              </a:defRPr>
            </a:pPr>
            <a:r>
              <a:t>이번 조사에서 비율 근거 미확보</a:t>
            </a:r>
          </a:p>
        </p:txBody>
      </p:sp>
      <p:sp>
        <p:nvSpPr>
          <p:cNvPr id="27" name="Rounded Rectangle 26"/>
          <p:cNvSpPr/>
          <p:nvPr/>
        </p:nvSpPr>
        <p:spPr>
          <a:xfrm>
            <a:off x="8458200" y="2834640"/>
            <a:ext cx="3154680" cy="2999232"/>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59368" y="2999232"/>
            <a:ext cx="2752344"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SAMPLE CHANGE</a:t>
            </a:r>
          </a:p>
        </p:txBody>
      </p:sp>
      <p:sp>
        <p:nvSpPr>
          <p:cNvPr id="29" name="TextBox 28"/>
          <p:cNvSpPr txBox="1"/>
          <p:nvPr/>
        </p:nvSpPr>
        <p:spPr>
          <a:xfrm>
            <a:off x="8659368" y="3447288"/>
            <a:ext cx="2752344"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파스쿠찌 → 폴 바셋</a:t>
            </a:r>
          </a:p>
        </p:txBody>
      </p:sp>
      <p:sp>
        <p:nvSpPr>
          <p:cNvPr id="30" name="TextBox 29"/>
          <p:cNvSpPr txBox="1"/>
          <p:nvPr/>
        </p:nvSpPr>
        <p:spPr>
          <a:xfrm>
            <a:off x="8659368" y="4343400"/>
            <a:ext cx="2752344" cy="1353311"/>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생산국과 매장 메뉴 연결이</a:t>
            </a:r>
          </a:p>
          <a:p>
            <a:pPr>
              <a:spcBef>
                <a:spcPts val="0"/>
              </a:spcBef>
              <a:spcAft>
                <a:spcPts val="500"/>
              </a:spcAft>
              <a:defRPr sz="1500" b="0">
                <a:solidFill>
                  <a:srgbClr val="807164"/>
                </a:solidFill>
                <a:latin typeface="맑은 고딕"/>
              </a:defRPr>
            </a:pPr>
            <a:r>
              <a:t>확인되는 유사 가격대 브랜드로</a:t>
            </a:r>
          </a:p>
          <a:p>
            <a:pPr>
              <a:spcBef>
                <a:spcPts val="0"/>
              </a:spcBef>
              <a:spcAft>
                <a:spcPts val="500"/>
              </a:spcAft>
              <a:defRPr sz="1500" b="0">
                <a:solidFill>
                  <a:srgbClr val="807164"/>
                </a:solidFill>
                <a:latin typeface="맑은 고딕"/>
              </a:defRPr>
            </a:pPr>
            <a:r>
              <a:t>교체했다. 비율은 추정하지 않음.</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par>
                          <p:cTn id="68" fill="hold">
                            <p:stCondLst>
                              <p:cond delay="4400"/>
                            </p:stCondLst>
                            <p:childTnLst>
                              <p:par>
                                <p:cTn id="69" presetID="10" presetClass="entr" presetSubtype="0" fill="hold" grpId="0" nodeType="afterEffect">
                                  <p:stCondLst>
                                    <p:cond delay="25"/>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250"/>
                                        <p:tgtEl>
                                          <p:spTgt spid="25"/>
                                        </p:tgtEl>
                                      </p:cBhvr>
                                    </p:animEffect>
                                  </p:childTnLst>
                                </p:cTn>
                              </p:par>
                            </p:childTnLst>
                          </p:cTn>
                        </p:par>
                        <p:par>
                          <p:cTn id="72" fill="hold">
                            <p:stCondLst>
                              <p:cond delay="4675"/>
                            </p:stCondLst>
                            <p:childTnLst>
                              <p:par>
                                <p:cTn id="73" presetID="10" presetClass="entr" presetSubtype="0" fill="hold" grpId="0" nodeType="afterEffect">
                                  <p:stCondLst>
                                    <p:cond delay="25"/>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4950"/>
                            </p:stCondLst>
                            <p:childTnLst>
                              <p:par>
                                <p:cTn id="77" presetID="10" presetClass="entr" presetSubtype="0" fill="hold" grpId="0" nodeType="afterEffect">
                                  <p:stCondLst>
                                    <p:cond delay="25"/>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50"/>
                                        <p:tgtEl>
                                          <p:spTgt spid="27"/>
                                        </p:tgtEl>
                                      </p:cBhvr>
                                    </p:animEffect>
                                  </p:childTnLst>
                                </p:cTn>
                              </p:par>
                            </p:childTnLst>
                          </p:cTn>
                        </p:par>
                        <p:par>
                          <p:cTn id="80" fill="hold">
                            <p:stCondLst>
                              <p:cond delay="5225"/>
                            </p:stCondLst>
                            <p:childTnLst>
                              <p:par>
                                <p:cTn id="81" presetID="10" presetClass="entr" presetSubtype="0" fill="hold" grpId="0" nodeType="afterEffect">
                                  <p:stCondLst>
                                    <p:cond delay="25"/>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250"/>
                                        <p:tgtEl>
                                          <p:spTgt spid="28"/>
                                        </p:tgtEl>
                                      </p:cBhvr>
                                    </p:animEffect>
                                  </p:childTnLst>
                                </p:cTn>
                              </p:par>
                            </p:childTnLst>
                          </p:cTn>
                        </p:par>
                        <p:par>
                          <p:cTn id="84" fill="hold">
                            <p:stCondLst>
                              <p:cond delay="5500"/>
                            </p:stCondLst>
                            <p:childTnLst>
                              <p:par>
                                <p:cTn id="85" presetID="10" presetClass="entr" presetSubtype="0" fill="hold" grpId="0" nodeType="afterEffect">
                                  <p:stCondLst>
                                    <p:cond delay="25"/>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50"/>
                                        <p:tgtEl>
                                          <p:spTgt spid="29"/>
                                        </p:tgtEl>
                                      </p:cBhvr>
                                    </p:animEffect>
                                  </p:childTnLst>
                                </p:cTn>
                              </p:par>
                            </p:childTnLst>
                          </p:cTn>
                        </p:par>
                        <p:par>
                          <p:cTn id="88" fill="hold">
                            <p:stCondLst>
                              <p:cond delay="5775"/>
                            </p:stCondLst>
                            <p:childTnLst>
                              <p:par>
                                <p:cTn id="89" presetID="10" presetClass="entr" presetSubtype="0" fill="hold" grpId="0" nodeType="afterEffect">
                                  <p:stCondLst>
                                    <p:cond delay="25"/>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2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P spid="22" grpId="0" animBg="1"/>
      <p:bldP spid="23" grpId="0"/>
      <p:bldP spid="24" grpId="0"/>
      <p:bldP spid="25" grpId="0" animBg="1"/>
      <p:bldP spid="26" grpId="0"/>
      <p:bldP spid="27" grpId="0" animBg="1"/>
      <p:bldP spid="28" grpId="0"/>
      <p:bldP spid="29"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06 / BEAN PROFILES</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매장 블렌드의 생산국과 농장을 추적했다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원산지 존재·배전 문구를 비교하며, 산지별 비율과 맛의 우열은 추정하지 않는다.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S02·S06·S13·S24–S30 | 생산국·농장과 로스팅 장소는 별개 · 세부 목록은 origin_audit.csv</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07 / 13</a:t>
            </a:r>
          </a:p>
        </p:txBody>
      </p:sp>
      <p:sp>
        <p:nvSpPr>
          <p:cNvPr id="9" name="TextBox 8"/>
          <p:cNvSpPr txBox="1"/>
          <p:nvPr/>
        </p:nvSpPr>
        <p:spPr>
          <a:xfrm>
            <a:off x="612647" y="2761488"/>
            <a:ext cx="170078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브랜드</a:t>
            </a:r>
          </a:p>
        </p:txBody>
      </p:sp>
      <p:sp>
        <p:nvSpPr>
          <p:cNvPr id="10" name="TextBox 9"/>
          <p:cNvSpPr txBox="1"/>
          <p:nvPr/>
        </p:nvSpPr>
        <p:spPr>
          <a:xfrm>
            <a:off x="2441448" y="2761488"/>
            <a:ext cx="352958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산지 / 구성</a:t>
            </a:r>
          </a:p>
        </p:txBody>
      </p:sp>
      <p:sp>
        <p:nvSpPr>
          <p:cNvPr id="11" name="TextBox 10"/>
          <p:cNvSpPr txBox="1"/>
          <p:nvPr/>
        </p:nvSpPr>
        <p:spPr>
          <a:xfrm>
            <a:off x="6099048" y="2761488"/>
            <a:ext cx="2066543"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로스팅</a:t>
            </a:r>
          </a:p>
        </p:txBody>
      </p:sp>
      <p:sp>
        <p:nvSpPr>
          <p:cNvPr id="12" name="TextBox 11"/>
          <p:cNvSpPr txBox="1"/>
          <p:nvPr/>
        </p:nvSpPr>
        <p:spPr>
          <a:xfrm>
            <a:off x="8293608" y="2761488"/>
            <a:ext cx="316382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향미 문구</a:t>
            </a:r>
          </a:p>
        </p:txBody>
      </p:sp>
      <p:sp>
        <p:nvSpPr>
          <p:cNvPr id="13" name="Rounded Rectangle 12"/>
          <p:cNvSpPr/>
          <p:nvPr/>
        </p:nvSpPr>
        <p:spPr>
          <a:xfrm>
            <a:off x="548640" y="3218688"/>
            <a:ext cx="1097280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310128"/>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스타벅스</a:t>
            </a:r>
          </a:p>
        </p:txBody>
      </p:sp>
      <p:sp>
        <p:nvSpPr>
          <p:cNvPr id="15" name="TextBox 14"/>
          <p:cNvSpPr txBox="1"/>
          <p:nvPr/>
        </p:nvSpPr>
        <p:spPr>
          <a:xfrm>
            <a:off x="2468880" y="3310128"/>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라틴 아메리카·아시아/태평양¹</a:t>
            </a:r>
          </a:p>
        </p:txBody>
      </p:sp>
      <p:sp>
        <p:nvSpPr>
          <p:cNvPr id="16" name="TextBox 15"/>
          <p:cNvSpPr txBox="1"/>
          <p:nvPr/>
        </p:nvSpPr>
        <p:spPr>
          <a:xfrm>
            <a:off x="6126479" y="3310128"/>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다크</a:t>
            </a:r>
          </a:p>
        </p:txBody>
      </p:sp>
      <p:sp>
        <p:nvSpPr>
          <p:cNvPr id="17" name="TextBox 16"/>
          <p:cNvSpPr txBox="1"/>
          <p:nvPr/>
        </p:nvSpPr>
        <p:spPr>
          <a:xfrm>
            <a:off x="8321040" y="3310128"/>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캐러멜·강한 바디</a:t>
            </a:r>
          </a:p>
        </p:txBody>
      </p:sp>
      <p:sp>
        <p:nvSpPr>
          <p:cNvPr id="18" name="Rounded Rectangle 17"/>
          <p:cNvSpPr/>
          <p:nvPr/>
        </p:nvSpPr>
        <p:spPr>
          <a:xfrm>
            <a:off x="548640" y="3611880"/>
            <a:ext cx="1097280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703320"/>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투썸플레이스</a:t>
            </a:r>
          </a:p>
        </p:txBody>
      </p:sp>
      <p:sp>
        <p:nvSpPr>
          <p:cNvPr id="20" name="TextBox 19"/>
          <p:cNvSpPr txBox="1"/>
          <p:nvPr/>
        </p:nvSpPr>
        <p:spPr>
          <a:xfrm>
            <a:off x="2468880" y="3703320"/>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블랙: 콜롬비아·브라질·PNG</a:t>
            </a:r>
          </a:p>
        </p:txBody>
      </p:sp>
      <p:sp>
        <p:nvSpPr>
          <p:cNvPr id="21" name="TextBox 20"/>
          <p:cNvSpPr txBox="1"/>
          <p:nvPr/>
        </p:nvSpPr>
        <p:spPr>
          <a:xfrm>
            <a:off x="6126479" y="3703320"/>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다크 / 미디엄</a:t>
            </a:r>
          </a:p>
        </p:txBody>
      </p:sp>
      <p:sp>
        <p:nvSpPr>
          <p:cNvPr id="22" name="TextBox 21"/>
          <p:cNvSpPr txBox="1"/>
          <p:nvPr/>
        </p:nvSpPr>
        <p:spPr>
          <a:xfrm>
            <a:off x="8321040" y="3703320"/>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초콜릿·견과 / 과일·꽃</a:t>
            </a:r>
          </a:p>
        </p:txBody>
      </p:sp>
      <p:sp>
        <p:nvSpPr>
          <p:cNvPr id="23" name="Rounded Rectangle 22"/>
          <p:cNvSpPr/>
          <p:nvPr/>
        </p:nvSpPr>
        <p:spPr>
          <a:xfrm>
            <a:off x="548640" y="4005072"/>
            <a:ext cx="1097280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096511"/>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폴 바셋</a:t>
            </a:r>
          </a:p>
        </p:txBody>
      </p:sp>
      <p:sp>
        <p:nvSpPr>
          <p:cNvPr id="25" name="TextBox 24"/>
          <p:cNvSpPr txBox="1"/>
          <p:nvPr/>
        </p:nvSpPr>
        <p:spPr>
          <a:xfrm>
            <a:off x="2468880" y="4096511"/>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브라질·에티오피아</a:t>
            </a:r>
          </a:p>
        </p:txBody>
      </p:sp>
      <p:sp>
        <p:nvSpPr>
          <p:cNvPr id="26" name="TextBox 25"/>
          <p:cNvSpPr txBox="1"/>
          <p:nvPr/>
        </p:nvSpPr>
        <p:spPr>
          <a:xfrm>
            <a:off x="6126479" y="4096511"/>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국내 로스팅</a:t>
            </a:r>
          </a:p>
        </p:txBody>
      </p:sp>
      <p:sp>
        <p:nvSpPr>
          <p:cNvPr id="27" name="TextBox 26"/>
          <p:cNvSpPr txBox="1"/>
          <p:nvPr/>
        </p:nvSpPr>
        <p:spPr>
          <a:xfrm>
            <a:off x="8321040" y="4096511"/>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초콜릿·산미·바디</a:t>
            </a:r>
          </a:p>
        </p:txBody>
      </p:sp>
      <p:sp>
        <p:nvSpPr>
          <p:cNvPr id="28" name="Rounded Rectangle 27"/>
          <p:cNvSpPr/>
          <p:nvPr/>
        </p:nvSpPr>
        <p:spPr>
          <a:xfrm>
            <a:off x="548640" y="4398264"/>
            <a:ext cx="1097280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489703"/>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빽다방</a:t>
            </a:r>
          </a:p>
        </p:txBody>
      </p:sp>
      <p:sp>
        <p:nvSpPr>
          <p:cNvPr id="30" name="TextBox 29"/>
          <p:cNvSpPr txBox="1"/>
          <p:nvPr/>
        </p:nvSpPr>
        <p:spPr>
          <a:xfrm>
            <a:off x="2468880" y="4489703"/>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브라질: 벨로소 DOT·파젠다 엄³</a:t>
            </a:r>
          </a:p>
        </p:txBody>
      </p:sp>
      <p:sp>
        <p:nvSpPr>
          <p:cNvPr id="31" name="TextBox 30"/>
          <p:cNvSpPr txBox="1"/>
          <p:nvPr/>
        </p:nvSpPr>
        <p:spPr>
          <a:xfrm>
            <a:off x="6126479" y="4489703"/>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5–15일 사용⁴</a:t>
            </a:r>
          </a:p>
        </p:txBody>
      </p:sp>
      <p:sp>
        <p:nvSpPr>
          <p:cNvPr id="32" name="TextBox 31"/>
          <p:cNvSpPr txBox="1"/>
          <p:nvPr/>
        </p:nvSpPr>
        <p:spPr>
          <a:xfrm>
            <a:off x="8321040" y="4489703"/>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브라운슈가·견과</a:t>
            </a:r>
          </a:p>
        </p:txBody>
      </p:sp>
      <p:sp>
        <p:nvSpPr>
          <p:cNvPr id="33" name="Rounded Rectangle 32"/>
          <p:cNvSpPr/>
          <p:nvPr/>
        </p:nvSpPr>
        <p:spPr>
          <a:xfrm>
            <a:off x="548640" y="4791455"/>
            <a:ext cx="1097280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4882895"/>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텐퍼센트커피</a:t>
            </a:r>
          </a:p>
        </p:txBody>
      </p:sp>
      <p:sp>
        <p:nvSpPr>
          <p:cNvPr id="35" name="TextBox 34"/>
          <p:cNvSpPr txBox="1"/>
          <p:nvPr/>
        </p:nvSpPr>
        <p:spPr>
          <a:xfrm>
            <a:off x="2468880" y="4882895"/>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다크: 브라질·콜롬비아·과테말라·에티오피아</a:t>
            </a:r>
          </a:p>
        </p:txBody>
      </p:sp>
      <p:sp>
        <p:nvSpPr>
          <p:cNvPr id="36" name="TextBox 35"/>
          <p:cNvSpPr txBox="1"/>
          <p:nvPr/>
        </p:nvSpPr>
        <p:spPr>
          <a:xfrm>
            <a:off x="6126479" y="4882895"/>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강배전 / 중배전²</a:t>
            </a:r>
          </a:p>
        </p:txBody>
      </p:sp>
      <p:sp>
        <p:nvSpPr>
          <p:cNvPr id="37" name="TextBox 36"/>
          <p:cNvSpPr txBox="1"/>
          <p:nvPr/>
        </p:nvSpPr>
        <p:spPr>
          <a:xfrm>
            <a:off x="8321040" y="4882895"/>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초콜릿 / 과일·산미</a:t>
            </a:r>
          </a:p>
        </p:txBody>
      </p:sp>
      <p:sp>
        <p:nvSpPr>
          <p:cNvPr id="38" name="Rounded Rectangle 37"/>
          <p:cNvSpPr/>
          <p:nvPr/>
        </p:nvSpPr>
        <p:spPr>
          <a:xfrm>
            <a:off x="548640" y="5184647"/>
            <a:ext cx="1097280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5276087"/>
            <a:ext cx="16459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t>컴포즈커피</a:t>
            </a:r>
          </a:p>
        </p:txBody>
      </p:sp>
      <p:sp>
        <p:nvSpPr>
          <p:cNvPr id="40" name="TextBox 39"/>
          <p:cNvSpPr txBox="1"/>
          <p:nvPr/>
        </p:nvSpPr>
        <p:spPr>
          <a:xfrm>
            <a:off x="2468880" y="5276087"/>
            <a:ext cx="347472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브라질·콜롬비아·에티오피아³</a:t>
            </a:r>
          </a:p>
        </p:txBody>
      </p:sp>
      <p:sp>
        <p:nvSpPr>
          <p:cNvPr id="41" name="TextBox 40"/>
          <p:cNvSpPr txBox="1"/>
          <p:nvPr/>
        </p:nvSpPr>
        <p:spPr>
          <a:xfrm>
            <a:off x="6126479" y="5276087"/>
            <a:ext cx="2011679"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자체 로스팅³</a:t>
            </a:r>
          </a:p>
        </p:txBody>
      </p:sp>
      <p:sp>
        <p:nvSpPr>
          <p:cNvPr id="42" name="TextBox 41"/>
          <p:cNvSpPr txBox="1"/>
          <p:nvPr/>
        </p:nvSpPr>
        <p:spPr>
          <a:xfrm>
            <a:off x="8321040" y="5276087"/>
            <a:ext cx="3108960" cy="265176"/>
          </a:xfrm>
          <a:prstGeom prst="rect">
            <a:avLst/>
          </a:prstGeom>
          <a:noFill/>
        </p:spPr>
        <p:txBody>
          <a:bodyPr wrap="square" lIns="0" tIns="0" rIns="0" bIns="0">
            <a:spAutoFit/>
          </a:bodyPr>
          <a:lstStyle/>
          <a:p>
            <a:pPr>
              <a:spcBef>
                <a:spcPts val="0"/>
              </a:spcBef>
              <a:spcAft>
                <a:spcPts val="500"/>
              </a:spcAft>
              <a:defRPr sz="1100" b="0">
                <a:solidFill>
                  <a:srgbClr val="30231D"/>
                </a:solidFill>
                <a:latin typeface="맑은 고딕"/>
              </a:defRPr>
            </a:pPr>
            <a:r>
              <a:t>고소함·초콜릿³</a:t>
            </a:r>
          </a:p>
        </p:txBody>
      </p:sp>
      <p:sp>
        <p:nvSpPr>
          <p:cNvPr id="43" name="TextBox 42"/>
          <p:cNvSpPr txBox="1"/>
          <p:nvPr/>
        </p:nvSpPr>
        <p:spPr>
          <a:xfrm>
            <a:off x="612648" y="5742432"/>
            <a:ext cx="10881360" cy="484632"/>
          </a:xfrm>
          <a:prstGeom prst="rect">
            <a:avLst/>
          </a:prstGeom>
          <a:noFill/>
        </p:spPr>
        <p:txBody>
          <a:bodyPr wrap="square" lIns="0" tIns="0" rIns="0" bIns="0">
            <a:spAutoFit/>
          </a:bodyPr>
          <a:lstStyle/>
          <a:p>
            <a:pPr>
              <a:spcBef>
                <a:spcPts val="0"/>
              </a:spcBef>
              <a:spcAft>
                <a:spcPts val="500"/>
              </a:spcAft>
              <a:defRPr sz="1000" b="0">
                <a:solidFill>
                  <a:srgbClr val="807164"/>
                </a:solidFill>
                <a:latin typeface="맑은 고딕"/>
              </a:defRPr>
            </a:pPr>
            <a:r>
              <a:t>¹ 스타벅스 본문은 라틴·아시아, 하단 Origin은 아프리카/아라비아 → 국가 구성 확정 보류</a:t>
            </a:r>
          </a:p>
          <a:p>
            <a:pPr>
              <a:spcBef>
                <a:spcPts val="0"/>
              </a:spcBef>
              <a:spcAft>
                <a:spcPts val="500"/>
              </a:spcAft>
              <a:defRPr sz="1000" b="0">
                <a:solidFill>
                  <a:srgbClr val="807164"/>
                </a:solidFill>
                <a:latin typeface="맑은 고딕"/>
              </a:defRPr>
            </a:pPr>
            <a:r>
              <a:t>² 텐퍼센트 공식 용어 병기  ³ 2026 취재·기업 인터뷰  ⁴ 로스팅 후 사용 기간, 배전 단계 아님</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par>
                          <p:cTn id="68" fill="hold">
                            <p:stCondLst>
                              <p:cond delay="4400"/>
                            </p:stCondLst>
                            <p:childTnLst>
                              <p:par>
                                <p:cTn id="69" presetID="10" presetClass="entr" presetSubtype="0" fill="hold" grpId="0" nodeType="afterEffect">
                                  <p:stCondLst>
                                    <p:cond delay="25"/>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250"/>
                                        <p:tgtEl>
                                          <p:spTgt spid="25"/>
                                        </p:tgtEl>
                                      </p:cBhvr>
                                    </p:animEffect>
                                  </p:childTnLst>
                                </p:cTn>
                              </p:par>
                            </p:childTnLst>
                          </p:cTn>
                        </p:par>
                        <p:par>
                          <p:cTn id="72" fill="hold">
                            <p:stCondLst>
                              <p:cond delay="4675"/>
                            </p:stCondLst>
                            <p:childTnLst>
                              <p:par>
                                <p:cTn id="73" presetID="10" presetClass="entr" presetSubtype="0" fill="hold" grpId="0" nodeType="afterEffect">
                                  <p:stCondLst>
                                    <p:cond delay="25"/>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4950"/>
                            </p:stCondLst>
                            <p:childTnLst>
                              <p:par>
                                <p:cTn id="77" presetID="10" presetClass="entr" presetSubtype="0" fill="hold" grpId="0" nodeType="afterEffect">
                                  <p:stCondLst>
                                    <p:cond delay="25"/>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50"/>
                                        <p:tgtEl>
                                          <p:spTgt spid="27"/>
                                        </p:tgtEl>
                                      </p:cBhvr>
                                    </p:animEffect>
                                  </p:childTnLst>
                                </p:cTn>
                              </p:par>
                            </p:childTnLst>
                          </p:cTn>
                        </p:par>
                        <p:par>
                          <p:cTn id="80" fill="hold">
                            <p:stCondLst>
                              <p:cond delay="5225"/>
                            </p:stCondLst>
                            <p:childTnLst>
                              <p:par>
                                <p:cTn id="81" presetID="10" presetClass="entr" presetSubtype="0" fill="hold" grpId="0" nodeType="afterEffect">
                                  <p:stCondLst>
                                    <p:cond delay="25"/>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250"/>
                                        <p:tgtEl>
                                          <p:spTgt spid="28"/>
                                        </p:tgtEl>
                                      </p:cBhvr>
                                    </p:animEffect>
                                  </p:childTnLst>
                                </p:cTn>
                              </p:par>
                            </p:childTnLst>
                          </p:cTn>
                        </p:par>
                        <p:par>
                          <p:cTn id="84" fill="hold">
                            <p:stCondLst>
                              <p:cond delay="5500"/>
                            </p:stCondLst>
                            <p:childTnLst>
                              <p:par>
                                <p:cTn id="85" presetID="10" presetClass="entr" presetSubtype="0" fill="hold" grpId="0" nodeType="afterEffect">
                                  <p:stCondLst>
                                    <p:cond delay="25"/>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50"/>
                                        <p:tgtEl>
                                          <p:spTgt spid="29"/>
                                        </p:tgtEl>
                                      </p:cBhvr>
                                    </p:animEffect>
                                  </p:childTnLst>
                                </p:cTn>
                              </p:par>
                            </p:childTnLst>
                          </p:cTn>
                        </p:par>
                        <p:par>
                          <p:cTn id="88" fill="hold">
                            <p:stCondLst>
                              <p:cond delay="5775"/>
                            </p:stCondLst>
                            <p:childTnLst>
                              <p:par>
                                <p:cTn id="89" presetID="10" presetClass="entr" presetSubtype="0" fill="hold" grpId="0" nodeType="afterEffect">
                                  <p:stCondLst>
                                    <p:cond delay="25"/>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250"/>
                                        <p:tgtEl>
                                          <p:spTgt spid="30"/>
                                        </p:tgtEl>
                                      </p:cBhvr>
                                    </p:animEffect>
                                  </p:childTnLst>
                                </p:cTn>
                              </p:par>
                            </p:childTnLst>
                          </p:cTn>
                        </p:par>
                        <p:par>
                          <p:cTn id="92" fill="hold">
                            <p:stCondLst>
                              <p:cond delay="6050"/>
                            </p:stCondLst>
                            <p:childTnLst>
                              <p:par>
                                <p:cTn id="93" presetID="10" presetClass="entr" presetSubtype="0" fill="hold" grpId="0" nodeType="afterEffect">
                                  <p:stCondLst>
                                    <p:cond delay="25"/>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250"/>
                                        <p:tgtEl>
                                          <p:spTgt spid="31"/>
                                        </p:tgtEl>
                                      </p:cBhvr>
                                    </p:animEffect>
                                  </p:childTnLst>
                                </p:cTn>
                              </p:par>
                            </p:childTnLst>
                          </p:cTn>
                        </p:par>
                        <p:par>
                          <p:cTn id="96" fill="hold">
                            <p:stCondLst>
                              <p:cond delay="6325"/>
                            </p:stCondLst>
                            <p:childTnLst>
                              <p:par>
                                <p:cTn id="97" presetID="10" presetClass="entr" presetSubtype="0" fill="hold" grpId="0" nodeType="afterEffect">
                                  <p:stCondLst>
                                    <p:cond delay="25"/>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250"/>
                                        <p:tgtEl>
                                          <p:spTgt spid="32"/>
                                        </p:tgtEl>
                                      </p:cBhvr>
                                    </p:animEffect>
                                  </p:childTnLst>
                                </p:cTn>
                              </p:par>
                            </p:childTnLst>
                          </p:cTn>
                        </p:par>
                        <p:par>
                          <p:cTn id="100" fill="hold">
                            <p:stCondLst>
                              <p:cond delay="6600"/>
                            </p:stCondLst>
                            <p:childTnLst>
                              <p:par>
                                <p:cTn id="101" presetID="10" presetClass="entr" presetSubtype="0" fill="hold" grpId="0" nodeType="afterEffect">
                                  <p:stCondLst>
                                    <p:cond delay="25"/>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250"/>
                                        <p:tgtEl>
                                          <p:spTgt spid="33"/>
                                        </p:tgtEl>
                                      </p:cBhvr>
                                    </p:animEffect>
                                  </p:childTnLst>
                                </p:cTn>
                              </p:par>
                            </p:childTnLst>
                          </p:cTn>
                        </p:par>
                        <p:par>
                          <p:cTn id="104" fill="hold">
                            <p:stCondLst>
                              <p:cond delay="6875"/>
                            </p:stCondLst>
                            <p:childTnLst>
                              <p:par>
                                <p:cTn id="105" presetID="10" presetClass="entr" presetSubtype="0" fill="hold" grpId="0" nodeType="afterEffect">
                                  <p:stCondLst>
                                    <p:cond delay="25"/>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250"/>
                                        <p:tgtEl>
                                          <p:spTgt spid="34"/>
                                        </p:tgtEl>
                                      </p:cBhvr>
                                    </p:animEffect>
                                  </p:childTnLst>
                                </p:cTn>
                              </p:par>
                            </p:childTnLst>
                          </p:cTn>
                        </p:par>
                        <p:par>
                          <p:cTn id="108" fill="hold">
                            <p:stCondLst>
                              <p:cond delay="7150"/>
                            </p:stCondLst>
                            <p:childTnLst>
                              <p:par>
                                <p:cTn id="109" presetID="10" presetClass="entr" presetSubtype="0" fill="hold" grpId="0" nodeType="afterEffect">
                                  <p:stCondLst>
                                    <p:cond delay="25"/>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250"/>
                                        <p:tgtEl>
                                          <p:spTgt spid="35"/>
                                        </p:tgtEl>
                                      </p:cBhvr>
                                    </p:animEffect>
                                  </p:childTnLst>
                                </p:cTn>
                              </p:par>
                            </p:childTnLst>
                          </p:cTn>
                        </p:par>
                        <p:par>
                          <p:cTn id="112" fill="hold">
                            <p:stCondLst>
                              <p:cond delay="7425"/>
                            </p:stCondLst>
                            <p:childTnLst>
                              <p:par>
                                <p:cTn id="113" presetID="10" presetClass="entr" presetSubtype="0" fill="hold" grpId="0" nodeType="afterEffect">
                                  <p:stCondLst>
                                    <p:cond delay="25"/>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5" dur="250"/>
                                        <p:tgtEl>
                                          <p:spTgt spid="36"/>
                                        </p:tgtEl>
                                      </p:cBhvr>
                                    </p:animEffect>
                                  </p:childTnLst>
                                </p:cTn>
                              </p:par>
                            </p:childTnLst>
                          </p:cTn>
                        </p:par>
                        <p:par>
                          <p:cTn id="116" fill="hold">
                            <p:stCondLst>
                              <p:cond delay="7700"/>
                            </p:stCondLst>
                            <p:childTnLst>
                              <p:par>
                                <p:cTn id="117" presetID="10" presetClass="entr" presetSubtype="0" fill="hold" grpId="0" nodeType="afterEffect">
                                  <p:stCondLst>
                                    <p:cond delay="25"/>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9" dur="250"/>
                                        <p:tgtEl>
                                          <p:spTgt spid="37"/>
                                        </p:tgtEl>
                                      </p:cBhvr>
                                    </p:animEffect>
                                  </p:childTnLst>
                                </p:cTn>
                              </p:par>
                            </p:childTnLst>
                          </p:cTn>
                        </p:par>
                        <p:par>
                          <p:cTn id="120" fill="hold">
                            <p:stCondLst>
                              <p:cond delay="7975"/>
                            </p:stCondLst>
                            <p:childTnLst>
                              <p:par>
                                <p:cTn id="121" presetID="10" presetClass="entr" presetSubtype="0" fill="hold" grpId="0" nodeType="afterEffect">
                                  <p:stCondLst>
                                    <p:cond delay="25"/>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250"/>
                                        <p:tgtEl>
                                          <p:spTgt spid="38"/>
                                        </p:tgtEl>
                                      </p:cBhvr>
                                    </p:animEffect>
                                  </p:childTnLst>
                                </p:cTn>
                              </p:par>
                            </p:childTnLst>
                          </p:cTn>
                        </p:par>
                        <p:par>
                          <p:cTn id="124" fill="hold">
                            <p:stCondLst>
                              <p:cond delay="8250"/>
                            </p:stCondLst>
                            <p:childTnLst>
                              <p:par>
                                <p:cTn id="125" presetID="10" presetClass="entr" presetSubtype="0" fill="hold" grpId="0" nodeType="afterEffect">
                                  <p:stCondLst>
                                    <p:cond delay="25"/>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7" dur="250"/>
                                        <p:tgtEl>
                                          <p:spTgt spid="39"/>
                                        </p:tgtEl>
                                      </p:cBhvr>
                                    </p:animEffect>
                                  </p:childTnLst>
                                </p:cTn>
                              </p:par>
                            </p:childTnLst>
                          </p:cTn>
                        </p:par>
                        <p:par>
                          <p:cTn id="128" fill="hold">
                            <p:stCondLst>
                              <p:cond delay="8525"/>
                            </p:stCondLst>
                            <p:childTnLst>
                              <p:par>
                                <p:cTn id="129" presetID="10" presetClass="entr" presetSubtype="0" fill="hold" grpId="0" nodeType="afterEffect">
                                  <p:stCondLst>
                                    <p:cond delay="25"/>
                                  </p:stCondLst>
                                  <p:childTnLst>
                                    <p:set>
                                      <p:cBhvr>
                                        <p:cTn id="130" dur="1" fill="hold">
                                          <p:stCondLst>
                                            <p:cond delay="0"/>
                                          </p:stCondLst>
                                        </p:cTn>
                                        <p:tgtEl>
                                          <p:spTgt spid="40"/>
                                        </p:tgtEl>
                                        <p:attrNameLst>
                                          <p:attrName>style.visibility</p:attrName>
                                        </p:attrNameLst>
                                      </p:cBhvr>
                                      <p:to>
                                        <p:strVal val="visible"/>
                                      </p:to>
                                    </p:set>
                                    <p:animEffect transition="in" filter="fade">
                                      <p:cBhvr>
                                        <p:cTn id="131" dur="250"/>
                                        <p:tgtEl>
                                          <p:spTgt spid="40"/>
                                        </p:tgtEl>
                                      </p:cBhvr>
                                    </p:animEffect>
                                  </p:childTnLst>
                                </p:cTn>
                              </p:par>
                            </p:childTnLst>
                          </p:cTn>
                        </p:par>
                        <p:par>
                          <p:cTn id="132" fill="hold">
                            <p:stCondLst>
                              <p:cond delay="8800"/>
                            </p:stCondLst>
                            <p:childTnLst>
                              <p:par>
                                <p:cTn id="133" presetID="10" presetClass="entr" presetSubtype="0" fill="hold" grpId="0" nodeType="afterEffect">
                                  <p:stCondLst>
                                    <p:cond delay="25"/>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250"/>
                                        <p:tgtEl>
                                          <p:spTgt spid="41"/>
                                        </p:tgtEl>
                                      </p:cBhvr>
                                    </p:animEffect>
                                  </p:childTnLst>
                                </p:cTn>
                              </p:par>
                            </p:childTnLst>
                          </p:cTn>
                        </p:par>
                        <p:par>
                          <p:cTn id="136" fill="hold">
                            <p:stCondLst>
                              <p:cond delay="9075"/>
                            </p:stCondLst>
                            <p:childTnLst>
                              <p:par>
                                <p:cTn id="137" presetID="10" presetClass="entr" presetSubtype="0" fill="hold" grpId="0" nodeType="afterEffect">
                                  <p:stCondLst>
                                    <p:cond delay="25"/>
                                  </p:stCondLst>
                                  <p:childTnLst>
                                    <p:set>
                                      <p:cBhvr>
                                        <p:cTn id="138" dur="1" fill="hold">
                                          <p:stCondLst>
                                            <p:cond delay="0"/>
                                          </p:stCondLst>
                                        </p:cTn>
                                        <p:tgtEl>
                                          <p:spTgt spid="42"/>
                                        </p:tgtEl>
                                        <p:attrNameLst>
                                          <p:attrName>style.visibility</p:attrName>
                                        </p:attrNameLst>
                                      </p:cBhvr>
                                      <p:to>
                                        <p:strVal val="visible"/>
                                      </p:to>
                                    </p:set>
                                    <p:animEffect transition="in" filter="fade">
                                      <p:cBhvr>
                                        <p:cTn id="139" dur="250"/>
                                        <p:tgtEl>
                                          <p:spTgt spid="42"/>
                                        </p:tgtEl>
                                      </p:cBhvr>
                                    </p:animEffect>
                                  </p:childTnLst>
                                </p:cTn>
                              </p:par>
                            </p:childTnLst>
                          </p:cTn>
                        </p:par>
                        <p:par>
                          <p:cTn id="140" fill="hold">
                            <p:stCondLst>
                              <p:cond delay="9350"/>
                            </p:stCondLst>
                            <p:childTnLst>
                              <p:par>
                                <p:cTn id="141" presetID="10" presetClass="entr" presetSubtype="0" fill="hold" grpId="0" nodeType="afterEffect">
                                  <p:stCondLst>
                                    <p:cond delay="25"/>
                                  </p:stCondLst>
                                  <p:childTnLst>
                                    <p:set>
                                      <p:cBhvr>
                                        <p:cTn id="142" dur="1" fill="hold">
                                          <p:stCondLst>
                                            <p:cond delay="0"/>
                                          </p:stCondLst>
                                        </p:cTn>
                                        <p:tgtEl>
                                          <p:spTgt spid="43"/>
                                        </p:tgtEl>
                                        <p:attrNameLst>
                                          <p:attrName>style.visibility</p:attrName>
                                        </p:attrNameLst>
                                      </p:cBhvr>
                                      <p:to>
                                        <p:strVal val="visible"/>
                                      </p:to>
                                    </p:set>
                                    <p:animEffect transition="in" filter="fade">
                                      <p:cBhvr>
                                        <p:cTn id="143"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animBg="1"/>
      <p:bldP spid="14" grpId="0"/>
      <p:bldP spid="15" grpId="0"/>
      <p:bldP spid="16" grpId="0"/>
      <p:bldP spid="17" grpId="0"/>
      <p:bldP spid="18" grpId="0" animBg="1"/>
      <p:bldP spid="19" grpId="0"/>
      <p:bldP spid="20" grpId="0"/>
      <p:bldP spid="21" grpId="0"/>
      <p:bldP spid="22" grpId="0"/>
      <p:bldP spid="23" grpId="0" animBg="1"/>
      <p:bldP spid="24" grpId="0"/>
      <p:bldP spid="25" grpId="0"/>
      <p:bldP spid="26" grpId="0"/>
      <p:bldP spid="27" grpId="0"/>
      <p:bldP spid="28" grpId="0" animBg="1"/>
      <p:bldP spid="29" grpId="0"/>
      <p:bldP spid="30" grpId="0"/>
      <p:bldP spid="31" grpId="0"/>
      <p:bldP spid="32" grpId="0"/>
      <p:bldP spid="33" grpId="0" animBg="1"/>
      <p:bldP spid="34" grpId="0"/>
      <p:bldP spid="35" grpId="0"/>
      <p:bldP spid="36" grpId="0"/>
      <p:bldP spid="37" grpId="0"/>
      <p:bldP spid="38" grpId="0" animBg="1"/>
      <p:bldP spid="39" grpId="0"/>
      <p:bldP spid="40" grpId="0"/>
      <p:bldP spid="41" grpId="0"/>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07 / CLAIM VERSUS EVIDENCE</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‘스페셜티’라는 문구와 독립 평가표를 구분한다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빽다방 20%는 공식 안내, 컴포즈 5%·구성 원두 82점은 2026년 취재 보도다.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S03·S07·S13·S24·S26·S28–S30 | 공식 주장과 보도 구분 · 82점은 전체 블렌드에 전용 불가</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08 / 13</a:t>
            </a:r>
          </a:p>
        </p:txBody>
      </p:sp>
      <p:sp>
        <p:nvSpPr>
          <p:cNvPr id="9" name="TextBox 8"/>
          <p:cNvSpPr txBox="1"/>
          <p:nvPr/>
        </p:nvSpPr>
        <p:spPr>
          <a:xfrm>
            <a:off x="612647" y="2761488"/>
            <a:ext cx="192938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브랜드 / 범위</a:t>
            </a:r>
          </a:p>
        </p:txBody>
      </p:sp>
      <p:sp>
        <p:nvSpPr>
          <p:cNvPr id="10" name="TextBox 9"/>
          <p:cNvSpPr txBox="1"/>
          <p:nvPr/>
        </p:nvSpPr>
        <p:spPr>
          <a:xfrm>
            <a:off x="2670048" y="2761488"/>
            <a:ext cx="416966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확인한 내용</a:t>
            </a:r>
          </a:p>
        </p:txBody>
      </p:sp>
      <p:sp>
        <p:nvSpPr>
          <p:cNvPr id="11" name="TextBox 10"/>
          <p:cNvSpPr txBox="1"/>
          <p:nvPr/>
        </p:nvSpPr>
        <p:spPr>
          <a:xfrm>
            <a:off x="6967728" y="2761488"/>
            <a:ext cx="4443984" cy="36576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맑은 고딕"/>
              </a:defRPr>
            </a:pPr>
            <a:r>
              <a:t>해석 범위</a:t>
            </a:r>
          </a:p>
        </p:txBody>
      </p:sp>
      <p:sp>
        <p:nvSpPr>
          <p:cNvPr id="12" name="Rounded Rectangle 11"/>
          <p:cNvSpPr/>
          <p:nvPr/>
        </p:nvSpPr>
        <p:spPr>
          <a:xfrm>
            <a:off x="548640" y="3218688"/>
            <a:ext cx="1092708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310128"/>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스타벅스</a:t>
            </a:r>
          </a:p>
        </p:txBody>
      </p:sp>
      <p:sp>
        <p:nvSpPr>
          <p:cNvPr id="14" name="TextBox 13"/>
          <p:cNvSpPr txBox="1"/>
          <p:nvPr/>
        </p:nvSpPr>
        <p:spPr>
          <a:xfrm>
            <a:off x="2697480" y="3310128"/>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C.A.F.E. Practices 안내</a:t>
            </a:r>
          </a:p>
        </p:txBody>
      </p:sp>
      <p:sp>
        <p:nvSpPr>
          <p:cNvPr id="15" name="TextBox 14"/>
          <p:cNvSpPr txBox="1"/>
          <p:nvPr/>
        </p:nvSpPr>
        <p:spPr>
          <a:xfrm>
            <a:off x="6995160" y="3310128"/>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윤리 구매 검증 ≠ 관능 점수</a:t>
            </a:r>
          </a:p>
        </p:txBody>
      </p:sp>
      <p:sp>
        <p:nvSpPr>
          <p:cNvPr id="16" name="Rounded Rectangle 15"/>
          <p:cNvSpPr/>
          <p:nvPr/>
        </p:nvSpPr>
        <p:spPr>
          <a:xfrm>
            <a:off x="548640" y="3611880"/>
            <a:ext cx="1092708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703320"/>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투썸플레이스</a:t>
            </a:r>
          </a:p>
        </p:txBody>
      </p:sp>
      <p:sp>
        <p:nvSpPr>
          <p:cNvPr id="18" name="TextBox 17"/>
          <p:cNvSpPr txBox="1"/>
          <p:nvPr/>
        </p:nvSpPr>
        <p:spPr>
          <a:xfrm>
            <a:off x="2697480" y="3703320"/>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HACCP·내부 Q-Grader 안내</a:t>
            </a:r>
          </a:p>
        </p:txBody>
      </p:sp>
      <p:sp>
        <p:nvSpPr>
          <p:cNvPr id="19" name="TextBox 18"/>
          <p:cNvSpPr txBox="1"/>
          <p:nvPr/>
        </p:nvSpPr>
        <p:spPr>
          <a:xfrm>
            <a:off x="6995160" y="3703320"/>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공정·내부 관리 ≠ 독립 맛 평가</a:t>
            </a:r>
          </a:p>
        </p:txBody>
      </p:sp>
      <p:sp>
        <p:nvSpPr>
          <p:cNvPr id="20" name="Rounded Rectangle 19"/>
          <p:cNvSpPr/>
          <p:nvPr/>
        </p:nvSpPr>
        <p:spPr>
          <a:xfrm>
            <a:off x="548640" y="4005072"/>
            <a:ext cx="1092708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096511"/>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폴 바셋</a:t>
            </a:r>
          </a:p>
        </p:txBody>
      </p:sp>
      <p:sp>
        <p:nvSpPr>
          <p:cNvPr id="22" name="TextBox 21"/>
          <p:cNvSpPr txBox="1"/>
          <p:nvPr/>
        </p:nvSpPr>
        <p:spPr>
          <a:xfrm>
            <a:off x="2697480" y="4096511"/>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스페셜티 선별·3–14일 사용</a:t>
            </a:r>
          </a:p>
        </p:txBody>
      </p:sp>
      <p:sp>
        <p:nvSpPr>
          <p:cNvPr id="23" name="TextBox 22"/>
          <p:cNvSpPr txBox="1"/>
          <p:nvPr/>
        </p:nvSpPr>
        <p:spPr>
          <a:xfrm>
            <a:off x="6995160" y="4096511"/>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공식 관리 주장 ≠ 독립 맛 평가</a:t>
            </a:r>
          </a:p>
        </p:txBody>
      </p:sp>
      <p:sp>
        <p:nvSpPr>
          <p:cNvPr id="24" name="Rounded Rectangle 23"/>
          <p:cNvSpPr/>
          <p:nvPr/>
        </p:nvSpPr>
        <p:spPr>
          <a:xfrm>
            <a:off x="548640" y="4398264"/>
            <a:ext cx="1092708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4489703"/>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빽다방</a:t>
            </a:r>
          </a:p>
        </p:txBody>
      </p:sp>
      <p:sp>
        <p:nvSpPr>
          <p:cNvPr id="26" name="TextBox 25"/>
          <p:cNvSpPr txBox="1"/>
          <p:nvPr/>
        </p:nvSpPr>
        <p:spPr>
          <a:xfrm>
            <a:off x="2697480" y="4489703"/>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파젠다 엄 스페셜티 20%</a:t>
            </a:r>
          </a:p>
        </p:txBody>
      </p:sp>
      <p:sp>
        <p:nvSpPr>
          <p:cNvPr id="27" name="TextBox 26"/>
          <p:cNvSpPr txBox="1"/>
          <p:nvPr/>
        </p:nvSpPr>
        <p:spPr>
          <a:xfrm>
            <a:off x="6995160" y="4489703"/>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공식 배합 안내·개별 평가표 미확보</a:t>
            </a:r>
          </a:p>
        </p:txBody>
      </p:sp>
      <p:sp>
        <p:nvSpPr>
          <p:cNvPr id="28" name="Rounded Rectangle 27"/>
          <p:cNvSpPr/>
          <p:nvPr/>
        </p:nvSpPr>
        <p:spPr>
          <a:xfrm>
            <a:off x="548640" y="4791455"/>
            <a:ext cx="10927080" cy="356616"/>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882895"/>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텐퍼센트커피</a:t>
            </a:r>
          </a:p>
        </p:txBody>
      </p:sp>
      <p:sp>
        <p:nvSpPr>
          <p:cNvPr id="30" name="TextBox 29"/>
          <p:cNvSpPr txBox="1"/>
          <p:nvPr/>
        </p:nvSpPr>
        <p:spPr>
          <a:xfrm>
            <a:off x="2697480" y="4882895"/>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상위 10% 스페셜티 주장</a:t>
            </a:r>
          </a:p>
        </p:txBody>
      </p:sp>
      <p:sp>
        <p:nvSpPr>
          <p:cNvPr id="31" name="TextBox 30"/>
          <p:cNvSpPr txBox="1"/>
          <p:nvPr/>
        </p:nvSpPr>
        <p:spPr>
          <a:xfrm>
            <a:off x="6995160" y="4882895"/>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10%는 아라비카 함량이 아님</a:t>
            </a:r>
          </a:p>
        </p:txBody>
      </p:sp>
      <p:sp>
        <p:nvSpPr>
          <p:cNvPr id="32" name="Rounded Rectangle 31"/>
          <p:cNvSpPr/>
          <p:nvPr/>
        </p:nvSpPr>
        <p:spPr>
          <a:xfrm>
            <a:off x="548640" y="5184647"/>
            <a:ext cx="10927080" cy="356616"/>
          </a:xfrm>
          <a:prstGeom prst="roundRect">
            <a:avLst>
              <a:gd name="adj" fmla="val 8000"/>
            </a:avLst>
          </a:prstGeom>
          <a:solidFill>
            <a:srgbClr val="E8D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 y="5276087"/>
            <a:ext cx="1874519" cy="265176"/>
          </a:xfrm>
          <a:prstGeom prst="rect">
            <a:avLst/>
          </a:prstGeom>
          <a:noFill/>
        </p:spPr>
        <p:txBody>
          <a:bodyPr wrap="square" lIns="0" tIns="0" rIns="0" bIns="0">
            <a:spAutoFit/>
          </a:bodyPr>
          <a:lstStyle/>
          <a:p>
            <a:pPr>
              <a:spcBef>
                <a:spcPts val="0"/>
              </a:spcBef>
              <a:spcAft>
                <a:spcPts val="500"/>
              </a:spcAft>
              <a:defRPr sz="1150" b="1">
                <a:solidFill>
                  <a:srgbClr val="30231D"/>
                </a:solidFill>
                <a:latin typeface="맑은 고딕"/>
              </a:defRPr>
            </a:pPr>
            <a:r>
              <a:t>컴포즈커피</a:t>
            </a:r>
          </a:p>
        </p:txBody>
      </p:sp>
      <p:sp>
        <p:nvSpPr>
          <p:cNvPr id="34" name="TextBox 33"/>
          <p:cNvSpPr txBox="1"/>
          <p:nvPr/>
        </p:nvSpPr>
        <p:spPr>
          <a:xfrm>
            <a:off x="2697480" y="5276087"/>
            <a:ext cx="411480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스페셜티 5%·구성 원두 82점 보도</a:t>
            </a:r>
          </a:p>
        </p:txBody>
      </p:sp>
      <p:sp>
        <p:nvSpPr>
          <p:cNvPr id="35" name="TextBox 34"/>
          <p:cNvSpPr txBox="1"/>
          <p:nvPr/>
        </p:nvSpPr>
        <p:spPr>
          <a:xfrm>
            <a:off x="6995160" y="5276087"/>
            <a:ext cx="4389120" cy="265176"/>
          </a:xfrm>
          <a:prstGeom prst="rect">
            <a:avLst/>
          </a:prstGeom>
          <a:noFill/>
        </p:spPr>
        <p:txBody>
          <a:bodyPr wrap="square" lIns="0" tIns="0" rIns="0" bIns="0">
            <a:spAutoFit/>
          </a:bodyPr>
          <a:lstStyle/>
          <a:p>
            <a:pPr>
              <a:spcBef>
                <a:spcPts val="0"/>
              </a:spcBef>
              <a:spcAft>
                <a:spcPts val="500"/>
              </a:spcAft>
              <a:defRPr sz="1150" b="0">
                <a:solidFill>
                  <a:srgbClr val="30231D"/>
                </a:solidFill>
                <a:latin typeface="맑은 고딕"/>
              </a:defRPr>
            </a:pPr>
            <a:r>
              <a:t>완성 블렌드 점수 아님·평가표 미확보</a:t>
            </a:r>
          </a:p>
        </p:txBody>
      </p:sp>
      <p:sp>
        <p:nvSpPr>
          <p:cNvPr id="36" name="TextBox 35"/>
          <p:cNvSpPr txBox="1"/>
          <p:nvPr/>
        </p:nvSpPr>
        <p:spPr>
          <a:xfrm>
            <a:off x="640080" y="5687568"/>
            <a:ext cx="1554480" cy="411480"/>
          </a:xfrm>
          <a:prstGeom prst="rect">
            <a:avLst/>
          </a:prstGeom>
          <a:noFill/>
        </p:spPr>
        <p:txBody>
          <a:bodyPr wrap="square" lIns="0" tIns="0" rIns="0" bIns="0">
            <a:spAutoFit/>
          </a:bodyPr>
          <a:lstStyle/>
          <a:p>
            <a:pPr>
              <a:spcBef>
                <a:spcPts val="0"/>
              </a:spcBef>
              <a:spcAft>
                <a:spcPts val="500"/>
              </a:spcAft>
              <a:defRPr sz="2500" b="1">
                <a:solidFill>
                  <a:srgbClr val="754B36"/>
                </a:solidFill>
                <a:latin typeface="Georgia"/>
              </a:defRPr>
            </a:pPr>
            <a:r>
              <a:t>0 / 6</a:t>
            </a:r>
          </a:p>
        </p:txBody>
      </p:sp>
      <p:sp>
        <p:nvSpPr>
          <p:cNvPr id="37" name="TextBox 36"/>
          <p:cNvSpPr txBox="1"/>
          <p:nvPr/>
        </p:nvSpPr>
        <p:spPr>
          <a:xfrm>
            <a:off x="2286000" y="5769864"/>
            <a:ext cx="9052560" cy="3657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동일 기준으로 비교 가능한 독립 관능평가 점수 확보 건수</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par>
                          <p:cTn id="68" fill="hold">
                            <p:stCondLst>
                              <p:cond delay="4400"/>
                            </p:stCondLst>
                            <p:childTnLst>
                              <p:par>
                                <p:cTn id="69" presetID="10" presetClass="entr" presetSubtype="0" fill="hold" grpId="0" nodeType="afterEffect">
                                  <p:stCondLst>
                                    <p:cond delay="25"/>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250"/>
                                        <p:tgtEl>
                                          <p:spTgt spid="25"/>
                                        </p:tgtEl>
                                      </p:cBhvr>
                                    </p:animEffect>
                                  </p:childTnLst>
                                </p:cTn>
                              </p:par>
                            </p:childTnLst>
                          </p:cTn>
                        </p:par>
                        <p:par>
                          <p:cTn id="72" fill="hold">
                            <p:stCondLst>
                              <p:cond delay="4675"/>
                            </p:stCondLst>
                            <p:childTnLst>
                              <p:par>
                                <p:cTn id="73" presetID="10" presetClass="entr" presetSubtype="0" fill="hold" grpId="0" nodeType="afterEffect">
                                  <p:stCondLst>
                                    <p:cond delay="25"/>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4950"/>
                            </p:stCondLst>
                            <p:childTnLst>
                              <p:par>
                                <p:cTn id="77" presetID="10" presetClass="entr" presetSubtype="0" fill="hold" grpId="0" nodeType="afterEffect">
                                  <p:stCondLst>
                                    <p:cond delay="25"/>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250"/>
                                        <p:tgtEl>
                                          <p:spTgt spid="27"/>
                                        </p:tgtEl>
                                      </p:cBhvr>
                                    </p:animEffect>
                                  </p:childTnLst>
                                </p:cTn>
                              </p:par>
                            </p:childTnLst>
                          </p:cTn>
                        </p:par>
                        <p:par>
                          <p:cTn id="80" fill="hold">
                            <p:stCondLst>
                              <p:cond delay="5225"/>
                            </p:stCondLst>
                            <p:childTnLst>
                              <p:par>
                                <p:cTn id="81" presetID="10" presetClass="entr" presetSubtype="0" fill="hold" grpId="0" nodeType="afterEffect">
                                  <p:stCondLst>
                                    <p:cond delay="25"/>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250"/>
                                        <p:tgtEl>
                                          <p:spTgt spid="28"/>
                                        </p:tgtEl>
                                      </p:cBhvr>
                                    </p:animEffect>
                                  </p:childTnLst>
                                </p:cTn>
                              </p:par>
                            </p:childTnLst>
                          </p:cTn>
                        </p:par>
                        <p:par>
                          <p:cTn id="84" fill="hold">
                            <p:stCondLst>
                              <p:cond delay="5500"/>
                            </p:stCondLst>
                            <p:childTnLst>
                              <p:par>
                                <p:cTn id="85" presetID="10" presetClass="entr" presetSubtype="0" fill="hold" grpId="0" nodeType="afterEffect">
                                  <p:stCondLst>
                                    <p:cond delay="25"/>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50"/>
                                        <p:tgtEl>
                                          <p:spTgt spid="29"/>
                                        </p:tgtEl>
                                      </p:cBhvr>
                                    </p:animEffect>
                                  </p:childTnLst>
                                </p:cTn>
                              </p:par>
                            </p:childTnLst>
                          </p:cTn>
                        </p:par>
                        <p:par>
                          <p:cTn id="88" fill="hold">
                            <p:stCondLst>
                              <p:cond delay="5775"/>
                            </p:stCondLst>
                            <p:childTnLst>
                              <p:par>
                                <p:cTn id="89" presetID="10" presetClass="entr" presetSubtype="0" fill="hold" grpId="0" nodeType="afterEffect">
                                  <p:stCondLst>
                                    <p:cond delay="25"/>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250"/>
                                        <p:tgtEl>
                                          <p:spTgt spid="30"/>
                                        </p:tgtEl>
                                      </p:cBhvr>
                                    </p:animEffect>
                                  </p:childTnLst>
                                </p:cTn>
                              </p:par>
                            </p:childTnLst>
                          </p:cTn>
                        </p:par>
                        <p:par>
                          <p:cTn id="92" fill="hold">
                            <p:stCondLst>
                              <p:cond delay="6050"/>
                            </p:stCondLst>
                            <p:childTnLst>
                              <p:par>
                                <p:cTn id="93" presetID="10" presetClass="entr" presetSubtype="0" fill="hold" grpId="0" nodeType="afterEffect">
                                  <p:stCondLst>
                                    <p:cond delay="25"/>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250"/>
                                        <p:tgtEl>
                                          <p:spTgt spid="31"/>
                                        </p:tgtEl>
                                      </p:cBhvr>
                                    </p:animEffect>
                                  </p:childTnLst>
                                </p:cTn>
                              </p:par>
                            </p:childTnLst>
                          </p:cTn>
                        </p:par>
                        <p:par>
                          <p:cTn id="96" fill="hold">
                            <p:stCondLst>
                              <p:cond delay="6325"/>
                            </p:stCondLst>
                            <p:childTnLst>
                              <p:par>
                                <p:cTn id="97" presetID="10" presetClass="entr" presetSubtype="0" fill="hold" grpId="0" nodeType="afterEffect">
                                  <p:stCondLst>
                                    <p:cond delay="25"/>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250"/>
                                        <p:tgtEl>
                                          <p:spTgt spid="32"/>
                                        </p:tgtEl>
                                      </p:cBhvr>
                                    </p:animEffect>
                                  </p:childTnLst>
                                </p:cTn>
                              </p:par>
                            </p:childTnLst>
                          </p:cTn>
                        </p:par>
                        <p:par>
                          <p:cTn id="100" fill="hold">
                            <p:stCondLst>
                              <p:cond delay="6600"/>
                            </p:stCondLst>
                            <p:childTnLst>
                              <p:par>
                                <p:cTn id="101" presetID="10" presetClass="entr" presetSubtype="0" fill="hold" grpId="0" nodeType="afterEffect">
                                  <p:stCondLst>
                                    <p:cond delay="25"/>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250"/>
                                        <p:tgtEl>
                                          <p:spTgt spid="33"/>
                                        </p:tgtEl>
                                      </p:cBhvr>
                                    </p:animEffect>
                                  </p:childTnLst>
                                </p:cTn>
                              </p:par>
                            </p:childTnLst>
                          </p:cTn>
                        </p:par>
                        <p:par>
                          <p:cTn id="104" fill="hold">
                            <p:stCondLst>
                              <p:cond delay="6875"/>
                            </p:stCondLst>
                            <p:childTnLst>
                              <p:par>
                                <p:cTn id="105" presetID="10" presetClass="entr" presetSubtype="0" fill="hold" grpId="0" nodeType="afterEffect">
                                  <p:stCondLst>
                                    <p:cond delay="25"/>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250"/>
                                        <p:tgtEl>
                                          <p:spTgt spid="34"/>
                                        </p:tgtEl>
                                      </p:cBhvr>
                                    </p:animEffect>
                                  </p:childTnLst>
                                </p:cTn>
                              </p:par>
                            </p:childTnLst>
                          </p:cTn>
                        </p:par>
                        <p:par>
                          <p:cTn id="108" fill="hold">
                            <p:stCondLst>
                              <p:cond delay="7150"/>
                            </p:stCondLst>
                            <p:childTnLst>
                              <p:par>
                                <p:cTn id="109" presetID="10" presetClass="entr" presetSubtype="0" fill="hold" grpId="0" nodeType="afterEffect">
                                  <p:stCondLst>
                                    <p:cond delay="25"/>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250"/>
                                        <p:tgtEl>
                                          <p:spTgt spid="35"/>
                                        </p:tgtEl>
                                      </p:cBhvr>
                                    </p:animEffect>
                                  </p:childTnLst>
                                </p:cTn>
                              </p:par>
                            </p:childTnLst>
                          </p:cTn>
                        </p:par>
                        <p:par>
                          <p:cTn id="112" fill="hold">
                            <p:stCondLst>
                              <p:cond delay="7425"/>
                            </p:stCondLst>
                            <p:childTnLst>
                              <p:par>
                                <p:cTn id="113" presetID="10" presetClass="entr" presetSubtype="0" fill="hold" grpId="0" nodeType="afterEffect">
                                  <p:stCondLst>
                                    <p:cond delay="25"/>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5" dur="250"/>
                                        <p:tgtEl>
                                          <p:spTgt spid="36"/>
                                        </p:tgtEl>
                                      </p:cBhvr>
                                    </p:animEffect>
                                  </p:childTnLst>
                                </p:cTn>
                              </p:par>
                            </p:childTnLst>
                          </p:cTn>
                        </p:par>
                        <p:par>
                          <p:cTn id="116" fill="hold">
                            <p:stCondLst>
                              <p:cond delay="7700"/>
                            </p:stCondLst>
                            <p:childTnLst>
                              <p:par>
                                <p:cTn id="117" presetID="10" presetClass="entr" presetSubtype="0" fill="hold" grpId="0" nodeType="afterEffect">
                                  <p:stCondLst>
                                    <p:cond delay="25"/>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9" dur="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animBg="1"/>
      <p:bldP spid="13" grpId="0"/>
      <p:bldP spid="14" grpId="0"/>
      <p:bldP spid="15" grpId="0"/>
      <p:bldP spid="16" grpId="0" animBg="1"/>
      <p:bldP spid="17" grpId="0"/>
      <p:bldP spid="18" grpId="0"/>
      <p:bldP spid="19" grpId="0"/>
      <p:bldP spid="20" grpId="0" animBg="1"/>
      <p:bldP spid="21" grpId="0"/>
      <p:bldP spid="22" grpId="0"/>
      <p:bldP spid="23" grpId="0"/>
      <p:bldP spid="24" grpId="0" animBg="1"/>
      <p:bldP spid="25" grpId="0"/>
      <p:bldP spid="26" grpId="0"/>
      <p:bldP spid="27" grpId="0"/>
      <p:bldP spid="28" grpId="0" animBg="1"/>
      <p:bldP spid="29" grpId="0"/>
      <p:bldP spid="30" grpId="0"/>
      <p:bldP spid="31" grpId="0"/>
      <p:bldP spid="32" grpId="0" animBg="1"/>
      <p:bldP spid="33" grpId="0"/>
      <p:bldP spid="34" grpId="0"/>
      <p:bldP spid="35" grpId="0"/>
      <p:bldP spid="36"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08 / PRICE &amp; BEAN INFORMATION</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함량까지 확인한 가성비 브랜드도 있다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공개·보도된 스페셜티 구성 원두 함량만 표시. 미확보 브랜드는 0%가 아니다.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S24 공식 빽다방 안내 · S26 아이뉴스24 2026.03.15 | 스페셜티 구성 함량 · 품질 점수 아님</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09 / 13</a:t>
            </a:r>
          </a:p>
        </p:txBody>
      </p:sp>
      <p:pic>
        <p:nvPicPr>
          <p:cNvPr id="9" name="Picture 8" descr="06_specialty_share.png"/>
          <p:cNvPicPr>
            <a:picLocks noChangeAspect="1"/>
          </p:cNvPicPr>
          <p:nvPr/>
        </p:nvPicPr>
        <p:blipFill>
          <a:blip r:embed="rId3"/>
          <a:stretch>
            <a:fillRect/>
          </a:stretch>
        </p:blipFill>
        <p:spPr>
          <a:xfrm>
            <a:off x="457200" y="2743200"/>
            <a:ext cx="7680960" cy="3429000"/>
          </a:xfrm>
          <a:prstGeom prst="rect">
            <a:avLst/>
          </a:prstGeom>
        </p:spPr>
      </p:pic>
      <p:sp>
        <p:nvSpPr>
          <p:cNvPr id="10" name="TextBox 9"/>
          <p:cNvSpPr txBox="1"/>
          <p:nvPr/>
        </p:nvSpPr>
        <p:spPr>
          <a:xfrm>
            <a:off x="8549640" y="3063240"/>
            <a:ext cx="2926080" cy="1691640"/>
          </a:xfrm>
          <a:prstGeom prst="rect">
            <a:avLst/>
          </a:prstGeom>
          <a:noFill/>
        </p:spPr>
        <p:txBody>
          <a:bodyPr wrap="square" lIns="0" tIns="0" rIns="0" bIns="0">
            <a:spAutoFit/>
          </a:bodyPr>
          <a:lstStyle/>
          <a:p>
            <a:pPr>
              <a:spcBef>
                <a:spcPts val="0"/>
              </a:spcBef>
              <a:spcAft>
                <a:spcPts val="500"/>
              </a:spcAft>
              <a:defRPr sz="2700" b="1">
                <a:solidFill>
                  <a:srgbClr val="754B36"/>
                </a:solidFill>
                <a:latin typeface="맑은 고딕"/>
              </a:defRPr>
            </a:pPr>
            <a:r>
              <a:t>20% / 5%</a:t>
            </a:r>
          </a:p>
          <a:p>
            <a:pPr>
              <a:spcBef>
                <a:spcPts val="0"/>
              </a:spcBef>
              <a:spcAft>
                <a:spcPts val="500"/>
              </a:spcAft>
              <a:defRPr sz="2700" b="1">
                <a:solidFill>
                  <a:srgbClr val="754B36"/>
                </a:solidFill>
                <a:latin typeface="맑은 고딕"/>
              </a:defRPr>
            </a:pPr>
            <a:r>
              <a:t>≠</a:t>
            </a:r>
          </a:p>
          <a:p>
            <a:pPr>
              <a:spcBef>
                <a:spcPts val="0"/>
              </a:spcBef>
              <a:spcAft>
                <a:spcPts val="500"/>
              </a:spcAft>
              <a:defRPr sz="2700" b="1">
                <a:solidFill>
                  <a:srgbClr val="754B36"/>
                </a:solidFill>
                <a:latin typeface="맑은 고딕"/>
              </a:defRPr>
            </a:pPr>
            <a:r>
              <a:t>품질 순위</a:t>
            </a:r>
          </a:p>
        </p:txBody>
      </p:sp>
      <p:sp>
        <p:nvSpPr>
          <p:cNvPr id="11" name="TextBox 10"/>
          <p:cNvSpPr txBox="1"/>
          <p:nvPr/>
        </p:nvSpPr>
        <p:spPr>
          <a:xfrm>
            <a:off x="8549640" y="4937760"/>
            <a:ext cx="2926080" cy="91440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배합 함량은 구성의 정보다.</a:t>
            </a:r>
          </a:p>
          <a:p>
            <a:pPr>
              <a:spcBef>
                <a:spcPts val="0"/>
              </a:spcBef>
              <a:spcAft>
                <a:spcPts val="500"/>
              </a:spcAft>
              <a:defRPr sz="1400" b="0">
                <a:solidFill>
                  <a:srgbClr val="807164"/>
                </a:solidFill>
                <a:latin typeface="맑은 고딕"/>
              </a:defRPr>
            </a:pPr>
            <a:r>
              <a:t>독립 평가와 공급가가 없어</a:t>
            </a:r>
          </a:p>
          <a:p>
            <a:pPr>
              <a:spcBef>
                <a:spcPts val="0"/>
              </a:spcBef>
              <a:spcAft>
                <a:spcPts val="500"/>
              </a:spcAft>
              <a:defRPr sz="1400" b="0">
                <a:solidFill>
                  <a:srgbClr val="807164"/>
                </a:solidFill>
                <a:latin typeface="맑은 고딕"/>
              </a:defRPr>
            </a:pPr>
            <a:r>
              <a:t>맛·원가 우열은 판단 불가.</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09 / THE VALUE OF A CAFE</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원두의 가치와 카페 경험의 가치는 다르다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공식 자료에서 확인한 관리·공간·서비스 사례를 분리했다. 원가 비중은 산출하지 않았다.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S02·S03·S05·S07·S09·S13·S18·S21 | 개념 다이어그램 · 요소의 면적·순서는 비용 기여도를 뜻하지 않음</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10 / 13</a:t>
            </a:r>
          </a:p>
        </p:txBody>
      </p:sp>
      <p:sp>
        <p:nvSpPr>
          <p:cNvPr id="9" name="Rounded Rectangle 8"/>
          <p:cNvSpPr/>
          <p:nvPr/>
        </p:nvSpPr>
        <p:spPr>
          <a:xfrm>
            <a:off x="548640" y="3154680"/>
            <a:ext cx="2697480" cy="256032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319272"/>
            <a:ext cx="2286000" cy="411480"/>
          </a:xfrm>
          <a:prstGeom prst="rect">
            <a:avLst/>
          </a:prstGeom>
          <a:noFill/>
        </p:spPr>
        <p:txBody>
          <a:bodyPr wrap="square" lIns="0" tIns="0" rIns="0" bIns="0">
            <a:spAutoFit/>
          </a:bodyPr>
          <a:lstStyle/>
          <a:p>
            <a:pPr>
              <a:spcBef>
                <a:spcPts val="0"/>
              </a:spcBef>
              <a:spcAft>
                <a:spcPts val="500"/>
              </a:spcAft>
              <a:defRPr sz="2700" b="1">
                <a:solidFill>
                  <a:srgbClr val="B48557"/>
                </a:solidFill>
                <a:latin typeface="Georgia"/>
              </a:defRPr>
            </a:pPr>
            <a:r>
              <a:t>01</a:t>
            </a:r>
          </a:p>
        </p:txBody>
      </p:sp>
      <p:sp>
        <p:nvSpPr>
          <p:cNvPr id="11" name="TextBox 10"/>
          <p:cNvSpPr txBox="1"/>
          <p:nvPr/>
        </p:nvSpPr>
        <p:spPr>
          <a:xfrm>
            <a:off x="731520" y="3922776"/>
            <a:ext cx="2331720" cy="457200"/>
          </a:xfrm>
          <a:prstGeom prst="rect">
            <a:avLst/>
          </a:prstGeom>
          <a:noFill/>
        </p:spPr>
        <p:txBody>
          <a:bodyPr wrap="square" lIns="0" tIns="0" rIns="0" bIns="0">
            <a:spAutoFit/>
          </a:bodyPr>
          <a:lstStyle/>
          <a:p>
            <a:pPr>
              <a:spcBef>
                <a:spcPts val="0"/>
              </a:spcBef>
              <a:spcAft>
                <a:spcPts val="500"/>
              </a:spcAft>
              <a:defRPr sz="1800" b="1">
                <a:solidFill>
                  <a:srgbClr val="30231D"/>
                </a:solidFill>
                <a:latin typeface="맑은 고딕"/>
              </a:defRPr>
            </a:pPr>
            <a:r>
              <a:t>원두</a:t>
            </a:r>
          </a:p>
        </p:txBody>
      </p:sp>
      <p:sp>
        <p:nvSpPr>
          <p:cNvPr id="12" name="TextBox 11"/>
          <p:cNvSpPr txBox="1"/>
          <p:nvPr/>
        </p:nvSpPr>
        <p:spPr>
          <a:xfrm>
            <a:off x="731520" y="4645152"/>
            <a:ext cx="2331720" cy="822960"/>
          </a:xfrm>
          <a:prstGeom prst="rect">
            <a:avLst/>
          </a:prstGeom>
          <a:noFill/>
        </p:spPr>
        <p:txBody>
          <a:bodyPr wrap="square" lIns="0" tIns="0" rIns="0" bIns="0">
            <a:spAutoFit/>
          </a:bodyPr>
          <a:lstStyle/>
          <a:p>
            <a:pPr>
              <a:spcBef>
                <a:spcPts val="0"/>
              </a:spcBef>
              <a:spcAft>
                <a:spcPts val="500"/>
              </a:spcAft>
              <a:defRPr sz="1200" b="0">
                <a:solidFill>
                  <a:srgbClr val="807164"/>
                </a:solidFill>
                <a:latin typeface="맑은 고딕"/>
              </a:defRPr>
            </a:pPr>
            <a:r>
              <a:t>산지·블렌딩·선별</a:t>
            </a:r>
          </a:p>
          <a:p>
            <a:pPr>
              <a:spcBef>
                <a:spcPts val="0"/>
              </a:spcBef>
              <a:spcAft>
                <a:spcPts val="500"/>
              </a:spcAft>
              <a:defRPr sz="1200" b="0">
                <a:solidFill>
                  <a:srgbClr val="807164"/>
                </a:solidFill>
                <a:latin typeface="맑은 고딕"/>
              </a:defRPr>
            </a:pPr>
            <a:r>
              <a:t>브랜드별 공개 구성</a:t>
            </a:r>
          </a:p>
        </p:txBody>
      </p:sp>
      <p:sp>
        <p:nvSpPr>
          <p:cNvPr id="13" name="Rounded Rectangle 12"/>
          <p:cNvSpPr/>
          <p:nvPr/>
        </p:nvSpPr>
        <p:spPr>
          <a:xfrm>
            <a:off x="3447288" y="3154680"/>
            <a:ext cx="2697480" cy="256032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0168" y="3319272"/>
            <a:ext cx="2286000" cy="411480"/>
          </a:xfrm>
          <a:prstGeom prst="rect">
            <a:avLst/>
          </a:prstGeom>
          <a:noFill/>
        </p:spPr>
        <p:txBody>
          <a:bodyPr wrap="square" lIns="0" tIns="0" rIns="0" bIns="0">
            <a:spAutoFit/>
          </a:bodyPr>
          <a:lstStyle/>
          <a:p>
            <a:pPr>
              <a:spcBef>
                <a:spcPts val="0"/>
              </a:spcBef>
              <a:spcAft>
                <a:spcPts val="500"/>
              </a:spcAft>
              <a:defRPr sz="2700" b="1">
                <a:solidFill>
                  <a:srgbClr val="B48557"/>
                </a:solidFill>
                <a:latin typeface="Georgia"/>
              </a:defRPr>
            </a:pPr>
            <a:r>
              <a:t>02</a:t>
            </a:r>
          </a:p>
        </p:txBody>
      </p:sp>
      <p:sp>
        <p:nvSpPr>
          <p:cNvPr id="15" name="TextBox 14"/>
          <p:cNvSpPr txBox="1"/>
          <p:nvPr/>
        </p:nvSpPr>
        <p:spPr>
          <a:xfrm>
            <a:off x="3630168" y="3922776"/>
            <a:ext cx="2331720" cy="457200"/>
          </a:xfrm>
          <a:prstGeom prst="rect">
            <a:avLst/>
          </a:prstGeom>
          <a:noFill/>
        </p:spPr>
        <p:txBody>
          <a:bodyPr wrap="square" lIns="0" tIns="0" rIns="0" bIns="0">
            <a:spAutoFit/>
          </a:bodyPr>
          <a:lstStyle/>
          <a:p>
            <a:pPr>
              <a:spcBef>
                <a:spcPts val="0"/>
              </a:spcBef>
              <a:spcAft>
                <a:spcPts val="500"/>
              </a:spcAft>
              <a:defRPr sz="1800" b="1">
                <a:solidFill>
                  <a:srgbClr val="30231D"/>
                </a:solidFill>
                <a:latin typeface="맑은 고딕"/>
              </a:defRPr>
            </a:pPr>
            <a:r>
              <a:t>제조·품질 관리</a:t>
            </a:r>
          </a:p>
        </p:txBody>
      </p:sp>
      <p:sp>
        <p:nvSpPr>
          <p:cNvPr id="16" name="TextBox 15"/>
          <p:cNvSpPr txBox="1"/>
          <p:nvPr/>
        </p:nvSpPr>
        <p:spPr>
          <a:xfrm>
            <a:off x="3630168" y="4645152"/>
            <a:ext cx="2331720" cy="822960"/>
          </a:xfrm>
          <a:prstGeom prst="rect">
            <a:avLst/>
          </a:prstGeom>
          <a:noFill/>
        </p:spPr>
        <p:txBody>
          <a:bodyPr wrap="square" lIns="0" tIns="0" rIns="0" bIns="0">
            <a:spAutoFit/>
          </a:bodyPr>
          <a:lstStyle/>
          <a:p>
            <a:pPr>
              <a:spcBef>
                <a:spcPts val="0"/>
              </a:spcBef>
              <a:spcAft>
                <a:spcPts val="500"/>
              </a:spcAft>
              <a:defRPr sz="1200" b="0">
                <a:solidFill>
                  <a:srgbClr val="807164"/>
                </a:solidFill>
                <a:latin typeface="맑은 고딕"/>
              </a:defRPr>
            </a:pPr>
            <a:r>
              <a:t>투썸: 자체 플랜트·선별</a:t>
            </a:r>
          </a:p>
          <a:p>
            <a:pPr>
              <a:spcBef>
                <a:spcPts val="0"/>
              </a:spcBef>
              <a:spcAft>
                <a:spcPts val="500"/>
              </a:spcAft>
              <a:defRPr sz="1200" b="0">
                <a:solidFill>
                  <a:srgbClr val="807164"/>
                </a:solidFill>
                <a:latin typeface="맑은 고딕"/>
              </a:defRPr>
            </a:pPr>
            <a:r>
              <a:t>컴포즈: 계열사 로스팅 소개</a:t>
            </a:r>
          </a:p>
        </p:txBody>
      </p:sp>
      <p:sp>
        <p:nvSpPr>
          <p:cNvPr id="17" name="Rounded Rectangle 16"/>
          <p:cNvSpPr/>
          <p:nvPr/>
        </p:nvSpPr>
        <p:spPr>
          <a:xfrm>
            <a:off x="6345936" y="3154680"/>
            <a:ext cx="2697480" cy="256032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8816" y="3319272"/>
            <a:ext cx="2286000" cy="411480"/>
          </a:xfrm>
          <a:prstGeom prst="rect">
            <a:avLst/>
          </a:prstGeom>
          <a:noFill/>
        </p:spPr>
        <p:txBody>
          <a:bodyPr wrap="square" lIns="0" tIns="0" rIns="0" bIns="0">
            <a:spAutoFit/>
          </a:bodyPr>
          <a:lstStyle/>
          <a:p>
            <a:pPr>
              <a:spcBef>
                <a:spcPts val="0"/>
              </a:spcBef>
              <a:spcAft>
                <a:spcPts val="500"/>
              </a:spcAft>
              <a:defRPr sz="2700" b="1">
                <a:solidFill>
                  <a:srgbClr val="B48557"/>
                </a:solidFill>
                <a:latin typeface="Georgia"/>
              </a:defRPr>
            </a:pPr>
            <a:r>
              <a:t>03</a:t>
            </a:r>
          </a:p>
        </p:txBody>
      </p:sp>
      <p:sp>
        <p:nvSpPr>
          <p:cNvPr id="19" name="TextBox 18"/>
          <p:cNvSpPr txBox="1"/>
          <p:nvPr/>
        </p:nvSpPr>
        <p:spPr>
          <a:xfrm>
            <a:off x="6528816" y="3922776"/>
            <a:ext cx="2331720" cy="457200"/>
          </a:xfrm>
          <a:prstGeom prst="rect">
            <a:avLst/>
          </a:prstGeom>
          <a:noFill/>
        </p:spPr>
        <p:txBody>
          <a:bodyPr wrap="square" lIns="0" tIns="0" rIns="0" bIns="0">
            <a:spAutoFit/>
          </a:bodyPr>
          <a:lstStyle/>
          <a:p>
            <a:pPr>
              <a:spcBef>
                <a:spcPts val="0"/>
              </a:spcBef>
              <a:spcAft>
                <a:spcPts val="500"/>
              </a:spcAft>
              <a:defRPr sz="1800" b="1">
                <a:solidFill>
                  <a:srgbClr val="30231D"/>
                </a:solidFill>
                <a:latin typeface="맑은 고딕"/>
              </a:defRPr>
            </a:pPr>
            <a:r>
              <a:t>공간·브랜드 경험</a:t>
            </a:r>
          </a:p>
        </p:txBody>
      </p:sp>
      <p:sp>
        <p:nvSpPr>
          <p:cNvPr id="20" name="TextBox 19"/>
          <p:cNvSpPr txBox="1"/>
          <p:nvPr/>
        </p:nvSpPr>
        <p:spPr>
          <a:xfrm>
            <a:off x="6528816" y="4645152"/>
            <a:ext cx="2331720" cy="822960"/>
          </a:xfrm>
          <a:prstGeom prst="rect">
            <a:avLst/>
          </a:prstGeom>
          <a:noFill/>
        </p:spPr>
        <p:txBody>
          <a:bodyPr wrap="square" lIns="0" tIns="0" rIns="0" bIns="0">
            <a:spAutoFit/>
          </a:bodyPr>
          <a:lstStyle/>
          <a:p>
            <a:pPr>
              <a:spcBef>
                <a:spcPts val="0"/>
              </a:spcBef>
              <a:spcAft>
                <a:spcPts val="500"/>
              </a:spcAft>
              <a:defRPr sz="1200" b="0">
                <a:solidFill>
                  <a:srgbClr val="807164"/>
                </a:solidFill>
                <a:latin typeface="맑은 고딕"/>
              </a:defRPr>
            </a:pPr>
            <a:r>
              <a:t>투썸: 디저트 카페 공간</a:t>
            </a:r>
          </a:p>
          <a:p>
            <a:pPr>
              <a:spcBef>
                <a:spcPts val="0"/>
              </a:spcBef>
              <a:spcAft>
                <a:spcPts val="500"/>
              </a:spcAft>
              <a:defRPr sz="1200" b="0">
                <a:solidFill>
                  <a:srgbClr val="807164"/>
                </a:solidFill>
                <a:latin typeface="맑은 고딕"/>
              </a:defRPr>
            </a:pPr>
            <a:r>
              <a:t>텐퍼센트: 공간·경험 설명</a:t>
            </a:r>
          </a:p>
        </p:txBody>
      </p:sp>
      <p:sp>
        <p:nvSpPr>
          <p:cNvPr id="21" name="Rounded Rectangle 20"/>
          <p:cNvSpPr/>
          <p:nvPr/>
        </p:nvSpPr>
        <p:spPr>
          <a:xfrm>
            <a:off x="9244584" y="3154680"/>
            <a:ext cx="2697480" cy="256032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27463" y="3319272"/>
            <a:ext cx="2286000" cy="411480"/>
          </a:xfrm>
          <a:prstGeom prst="rect">
            <a:avLst/>
          </a:prstGeom>
          <a:noFill/>
        </p:spPr>
        <p:txBody>
          <a:bodyPr wrap="square" lIns="0" tIns="0" rIns="0" bIns="0">
            <a:spAutoFit/>
          </a:bodyPr>
          <a:lstStyle/>
          <a:p>
            <a:pPr>
              <a:spcBef>
                <a:spcPts val="0"/>
              </a:spcBef>
              <a:spcAft>
                <a:spcPts val="500"/>
              </a:spcAft>
              <a:defRPr sz="2700" b="1">
                <a:solidFill>
                  <a:srgbClr val="B48557"/>
                </a:solidFill>
                <a:latin typeface="Georgia"/>
              </a:defRPr>
            </a:pPr>
            <a:r>
              <a:t>04</a:t>
            </a:r>
          </a:p>
        </p:txBody>
      </p:sp>
      <p:sp>
        <p:nvSpPr>
          <p:cNvPr id="23" name="TextBox 22"/>
          <p:cNvSpPr txBox="1"/>
          <p:nvPr/>
        </p:nvSpPr>
        <p:spPr>
          <a:xfrm>
            <a:off x="9427463" y="3922776"/>
            <a:ext cx="2331720" cy="457200"/>
          </a:xfrm>
          <a:prstGeom prst="rect">
            <a:avLst/>
          </a:prstGeom>
          <a:noFill/>
        </p:spPr>
        <p:txBody>
          <a:bodyPr wrap="square" lIns="0" tIns="0" rIns="0" bIns="0">
            <a:spAutoFit/>
          </a:bodyPr>
          <a:lstStyle/>
          <a:p>
            <a:pPr>
              <a:spcBef>
                <a:spcPts val="0"/>
              </a:spcBef>
              <a:spcAft>
                <a:spcPts val="500"/>
              </a:spcAft>
              <a:defRPr sz="1800" b="1">
                <a:solidFill>
                  <a:srgbClr val="30231D"/>
                </a:solidFill>
                <a:latin typeface="맑은 고딕"/>
              </a:defRPr>
            </a:pPr>
            <a:r>
              <a:t>운영·서비스</a:t>
            </a:r>
          </a:p>
        </p:txBody>
      </p:sp>
      <p:sp>
        <p:nvSpPr>
          <p:cNvPr id="24" name="TextBox 23"/>
          <p:cNvSpPr txBox="1"/>
          <p:nvPr/>
        </p:nvSpPr>
        <p:spPr>
          <a:xfrm>
            <a:off x="9427463" y="4645152"/>
            <a:ext cx="2331720" cy="822960"/>
          </a:xfrm>
          <a:prstGeom prst="rect">
            <a:avLst/>
          </a:prstGeom>
          <a:noFill/>
        </p:spPr>
        <p:txBody>
          <a:bodyPr wrap="square" lIns="0" tIns="0" rIns="0" bIns="0">
            <a:spAutoFit/>
          </a:bodyPr>
          <a:lstStyle/>
          <a:p>
            <a:pPr>
              <a:spcBef>
                <a:spcPts val="0"/>
              </a:spcBef>
              <a:spcAft>
                <a:spcPts val="500"/>
              </a:spcAft>
              <a:defRPr sz="1200" b="0">
                <a:solidFill>
                  <a:srgbClr val="807164"/>
                </a:solidFill>
                <a:latin typeface="맑은 고딕"/>
              </a:defRPr>
            </a:pPr>
            <a:r>
              <a:t>스타벅스: 사이렌오더</a:t>
            </a:r>
          </a:p>
          <a:p>
            <a:pPr>
              <a:spcBef>
                <a:spcPts val="0"/>
              </a:spcBef>
              <a:spcAft>
                <a:spcPts val="500"/>
              </a:spcAft>
              <a:defRPr sz="1200" b="0">
                <a:solidFill>
                  <a:srgbClr val="807164"/>
                </a:solidFill>
                <a:latin typeface="맑은 고딕"/>
              </a:defRPr>
            </a:pPr>
            <a:r>
              <a:t>교육·추출 관리 안내</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par>
                          <p:cTn id="52" fill="hold">
                            <p:stCondLst>
                              <p:cond delay="3300"/>
                            </p:stCondLst>
                            <p:childTnLst>
                              <p:par>
                                <p:cTn id="53" presetID="10" presetClass="entr" presetSubtype="0" fill="hold" grpId="0" nodeType="afterEffect">
                                  <p:stCondLst>
                                    <p:cond delay="25"/>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250"/>
                                        <p:tgtEl>
                                          <p:spTgt spid="21"/>
                                        </p:tgtEl>
                                      </p:cBhvr>
                                    </p:animEffect>
                                  </p:childTnLst>
                                </p:cTn>
                              </p:par>
                            </p:childTnLst>
                          </p:cTn>
                        </p:par>
                        <p:par>
                          <p:cTn id="56" fill="hold">
                            <p:stCondLst>
                              <p:cond delay="3575"/>
                            </p:stCondLst>
                            <p:childTnLst>
                              <p:par>
                                <p:cTn id="57" presetID="10" presetClass="entr" presetSubtype="0" fill="hold" grpId="0" nodeType="afterEffect">
                                  <p:stCondLst>
                                    <p:cond delay="25"/>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250"/>
                                        <p:tgtEl>
                                          <p:spTgt spid="22"/>
                                        </p:tgtEl>
                                      </p:cBhvr>
                                    </p:animEffect>
                                  </p:childTnLst>
                                </p:cTn>
                              </p:par>
                            </p:childTnLst>
                          </p:cTn>
                        </p:par>
                        <p:par>
                          <p:cTn id="60" fill="hold">
                            <p:stCondLst>
                              <p:cond delay="3850"/>
                            </p:stCondLst>
                            <p:childTnLst>
                              <p:par>
                                <p:cTn id="61" presetID="10" presetClass="entr" presetSubtype="0" fill="hold" grpId="0" nodeType="afterEffect">
                                  <p:stCondLst>
                                    <p:cond delay="25"/>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50"/>
                                        <p:tgtEl>
                                          <p:spTgt spid="23"/>
                                        </p:tgtEl>
                                      </p:cBhvr>
                                    </p:animEffect>
                                  </p:childTnLst>
                                </p:cTn>
                              </p:par>
                            </p:childTnLst>
                          </p:cTn>
                        </p:par>
                        <p:par>
                          <p:cTn id="64" fill="hold">
                            <p:stCondLst>
                              <p:cond delay="4125"/>
                            </p:stCondLst>
                            <p:childTnLst>
                              <p:par>
                                <p:cTn id="65" presetID="10" presetClass="entr" presetSubtype="0" fill="hold" grpId="0" nodeType="afterEffect">
                                  <p:stCondLst>
                                    <p:cond delay="25"/>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animBg="1"/>
      <p:bldP spid="14" grpId="0"/>
      <p:bldP spid="15" grpId="0"/>
      <p:bldP spid="16" grpId="0"/>
      <p:bldP spid="17" grpId="0" animBg="1"/>
      <p:bldP spid="18" grpId="0"/>
      <p:bldP spid="19" grpId="0"/>
      <p:bldP spid="20" grpId="0"/>
      <p:bldP spid="21" grpId="0" animBg="1"/>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0231D"/>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C3AE98"/>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C3AE98"/>
                </a:solidFill>
                <a:latin typeface="Arial"/>
              </a:defRPr>
            </a:pPr>
            <a:r>
              <a:t>10 / THE ANSWER</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F4EFE6"/>
                </a:solidFill>
                <a:latin typeface="맑은 고딕"/>
              </a:defRPr>
            </a:pPr>
            <a:r>
              <a:t>비싸다는 사실만으로 더 좋은 원두라 판정할 수 없다.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C3AE98"/>
                </a:solidFill>
                <a:latin typeface="맑은 고딕"/>
              </a:defRPr>
            </a:pPr>
            <a:r>
              <a:t>이번 공개 자료 분석이 허용하는 결론</a:t>
            </a:r>
          </a:p>
        </p:txBody>
      </p:sp>
      <p:sp>
        <p:nvSpPr>
          <p:cNvPr id="6" name="Rectangle 5"/>
          <p:cNvSpPr/>
          <p:nvPr/>
        </p:nvSpPr>
        <p:spPr>
          <a:xfrm>
            <a:off x="502920" y="6345936"/>
            <a:ext cx="11155680" cy="10972"/>
          </a:xfrm>
          <a:prstGeom prst="rect">
            <a:avLst/>
          </a:prstGeom>
          <a:solidFill>
            <a:srgbClr val="685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C3AE98"/>
                </a:solidFill>
                <a:latin typeface="맑은 고딕"/>
              </a:defRPr>
            </a:pPr>
            <a:r>
              <a:t>분석 대상 6개 브랜드 · 가격 적용일·매장·제품 범위 상이 · 동일 기준의 독립 품질 측정값 미확보</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F4EFE6"/>
                </a:solidFill>
                <a:latin typeface="Arial"/>
              </a:defRPr>
            </a:pPr>
            <a:r>
              <a:t>11 / 13</a:t>
            </a:r>
          </a:p>
        </p:txBody>
      </p:sp>
      <p:sp>
        <p:nvSpPr>
          <p:cNvPr id="9" name="TextBox 8"/>
          <p:cNvSpPr txBox="1"/>
          <p:nvPr/>
        </p:nvSpPr>
        <p:spPr>
          <a:xfrm>
            <a:off x="594360" y="3017520"/>
            <a:ext cx="2743200" cy="320040"/>
          </a:xfrm>
          <a:prstGeom prst="rect">
            <a:avLst/>
          </a:prstGeom>
          <a:noFill/>
        </p:spPr>
        <p:txBody>
          <a:bodyPr wrap="square" lIns="0" tIns="0" rIns="0" bIns="0">
            <a:spAutoFit/>
          </a:bodyPr>
          <a:lstStyle/>
          <a:p>
            <a:pPr>
              <a:spcBef>
                <a:spcPts val="0"/>
              </a:spcBef>
              <a:spcAft>
                <a:spcPts val="500"/>
              </a:spcAft>
              <a:defRPr sz="1000" b="1">
                <a:solidFill>
                  <a:srgbClr val="C3AE98"/>
                </a:solidFill>
                <a:latin typeface="Arial"/>
              </a:defRPr>
            </a:pPr>
            <a:r>
              <a:t>OBSERVED</a:t>
            </a:r>
          </a:p>
        </p:txBody>
      </p:sp>
      <p:sp>
        <p:nvSpPr>
          <p:cNvPr id="10" name="TextBox 9"/>
          <p:cNvSpPr txBox="1"/>
          <p:nvPr/>
        </p:nvSpPr>
        <p:spPr>
          <a:xfrm>
            <a:off x="3154680" y="3017520"/>
            <a:ext cx="8412480" cy="777240"/>
          </a:xfrm>
          <a:prstGeom prst="rect">
            <a:avLst/>
          </a:prstGeom>
          <a:noFill/>
        </p:spPr>
        <p:txBody>
          <a:bodyPr wrap="square" lIns="0" tIns="0" rIns="0" bIns="0">
            <a:spAutoFit/>
          </a:bodyPr>
          <a:lstStyle/>
          <a:p>
            <a:pPr>
              <a:spcBef>
                <a:spcPts val="0"/>
              </a:spcBef>
              <a:spcAft>
                <a:spcPts val="500"/>
              </a:spcAft>
              <a:defRPr sz="2200" b="1">
                <a:solidFill>
                  <a:srgbClr val="F4EFE6"/>
                </a:solidFill>
                <a:latin typeface="맑은 고딕"/>
              </a:defRPr>
            </a:pPr>
            <a:r>
              <a:t>자료상 HOT 가격은 1,500–4,700원으로 다르다.</a:t>
            </a:r>
          </a:p>
        </p:txBody>
      </p:sp>
      <p:sp>
        <p:nvSpPr>
          <p:cNvPr id="11" name="TextBox 10"/>
          <p:cNvSpPr txBox="1"/>
          <p:nvPr/>
        </p:nvSpPr>
        <p:spPr>
          <a:xfrm>
            <a:off x="594360" y="3959352"/>
            <a:ext cx="2743200" cy="320040"/>
          </a:xfrm>
          <a:prstGeom prst="rect">
            <a:avLst/>
          </a:prstGeom>
          <a:noFill/>
        </p:spPr>
        <p:txBody>
          <a:bodyPr wrap="square" lIns="0" tIns="0" rIns="0" bIns="0">
            <a:spAutoFit/>
          </a:bodyPr>
          <a:lstStyle/>
          <a:p>
            <a:pPr>
              <a:spcBef>
                <a:spcPts val="0"/>
              </a:spcBef>
              <a:spcAft>
                <a:spcPts val="500"/>
              </a:spcAft>
              <a:defRPr sz="1000" b="1">
                <a:solidFill>
                  <a:srgbClr val="C3AE98"/>
                </a:solidFill>
                <a:latin typeface="Arial"/>
              </a:defRPr>
            </a:pPr>
            <a:r>
              <a:t>OBSERVED</a:t>
            </a:r>
          </a:p>
        </p:txBody>
      </p:sp>
      <p:sp>
        <p:nvSpPr>
          <p:cNvPr id="12" name="TextBox 11"/>
          <p:cNvSpPr txBox="1"/>
          <p:nvPr/>
        </p:nvSpPr>
        <p:spPr>
          <a:xfrm>
            <a:off x="3154680" y="3959352"/>
            <a:ext cx="8412480" cy="777240"/>
          </a:xfrm>
          <a:prstGeom prst="rect">
            <a:avLst/>
          </a:prstGeom>
          <a:noFill/>
        </p:spPr>
        <p:txBody>
          <a:bodyPr wrap="square" lIns="0" tIns="0" rIns="0" bIns="0">
            <a:spAutoFit/>
          </a:bodyPr>
          <a:lstStyle/>
          <a:p>
            <a:pPr>
              <a:spcBef>
                <a:spcPts val="0"/>
              </a:spcBef>
              <a:spcAft>
                <a:spcPts val="500"/>
              </a:spcAft>
              <a:defRPr sz="2200" b="1">
                <a:solidFill>
                  <a:srgbClr val="F4EFE6"/>
                </a:solidFill>
                <a:latin typeface="맑은 고딕"/>
              </a:defRPr>
            </a:pPr>
            <a:r>
              <a:t>가성비 그룹에도 스페셜티 사용 주장·보도가 있다.</a:t>
            </a:r>
          </a:p>
        </p:txBody>
      </p:sp>
      <p:sp>
        <p:nvSpPr>
          <p:cNvPr id="13" name="TextBox 12"/>
          <p:cNvSpPr txBox="1"/>
          <p:nvPr/>
        </p:nvSpPr>
        <p:spPr>
          <a:xfrm>
            <a:off x="594360" y="4901184"/>
            <a:ext cx="2743200" cy="320040"/>
          </a:xfrm>
          <a:prstGeom prst="rect">
            <a:avLst/>
          </a:prstGeom>
          <a:noFill/>
        </p:spPr>
        <p:txBody>
          <a:bodyPr wrap="square" lIns="0" tIns="0" rIns="0" bIns="0">
            <a:spAutoFit/>
          </a:bodyPr>
          <a:lstStyle/>
          <a:p>
            <a:pPr>
              <a:spcBef>
                <a:spcPts val="0"/>
              </a:spcBef>
              <a:spcAft>
                <a:spcPts val="500"/>
              </a:spcAft>
              <a:defRPr sz="1000" b="1">
                <a:solidFill>
                  <a:srgbClr val="C3AE98"/>
                </a:solidFill>
                <a:latin typeface="Arial"/>
              </a:defRPr>
            </a:pPr>
            <a:r>
              <a:t>NOT ESTABLISHED</a:t>
            </a:r>
          </a:p>
        </p:txBody>
      </p:sp>
      <p:sp>
        <p:nvSpPr>
          <p:cNvPr id="14" name="TextBox 13"/>
          <p:cNvSpPr txBox="1"/>
          <p:nvPr/>
        </p:nvSpPr>
        <p:spPr>
          <a:xfrm>
            <a:off x="3154680" y="4901184"/>
            <a:ext cx="8412480" cy="777240"/>
          </a:xfrm>
          <a:prstGeom prst="rect">
            <a:avLst/>
          </a:prstGeom>
          <a:noFill/>
        </p:spPr>
        <p:txBody>
          <a:bodyPr wrap="square" lIns="0" tIns="0" rIns="0" bIns="0">
            <a:spAutoFit/>
          </a:bodyPr>
          <a:lstStyle/>
          <a:p>
            <a:pPr>
              <a:spcBef>
                <a:spcPts val="0"/>
              </a:spcBef>
              <a:spcAft>
                <a:spcPts val="500"/>
              </a:spcAft>
              <a:defRPr sz="2200" b="1">
                <a:solidFill>
                  <a:srgbClr val="F4EFE6"/>
                </a:solidFill>
                <a:latin typeface="맑은 고딕"/>
              </a:defRPr>
            </a:pPr>
            <a:r>
              <a:t>가격과 맛·원두의 절대 품질 사이의 관계는 검증하지 못했다.</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11 / WHAT COMES NEXT</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다음 검증은 같은 날, 같은 조건의 블라인드 테스트</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웹 정보의 공백을 실제 측정과 관능평가로 보완한다.</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 2026.10.18 · 공개 자료 조사 · 원두 품질 순위와 인과관계를 산출하지 않음</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12 / 13</a:t>
            </a:r>
          </a:p>
        </p:txBody>
      </p:sp>
      <p:sp>
        <p:nvSpPr>
          <p:cNvPr id="9" name="Rounded Rectangle 8"/>
          <p:cNvSpPr/>
          <p:nvPr/>
        </p:nvSpPr>
        <p:spPr>
          <a:xfrm>
            <a:off x="548640" y="2971800"/>
            <a:ext cx="3639312"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136392"/>
            <a:ext cx="3236976"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LIMITATION</a:t>
            </a:r>
          </a:p>
        </p:txBody>
      </p:sp>
      <p:sp>
        <p:nvSpPr>
          <p:cNvPr id="11" name="TextBox 10"/>
          <p:cNvSpPr txBox="1"/>
          <p:nvPr/>
        </p:nvSpPr>
        <p:spPr>
          <a:xfrm>
            <a:off x="749808" y="3584448"/>
            <a:ext cx="3236976"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비교 조건 불일치</a:t>
            </a:r>
          </a:p>
        </p:txBody>
      </p:sp>
      <p:sp>
        <p:nvSpPr>
          <p:cNvPr id="12" name="TextBox 11"/>
          <p:cNvSpPr txBox="1"/>
          <p:nvPr/>
        </p:nvSpPr>
        <p:spPr>
          <a:xfrm>
            <a:off x="749808" y="4480560"/>
            <a:ext cx="3236976"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시점·지점·용량이 다르다.</a:t>
            </a:r>
          </a:p>
          <a:p>
            <a:pPr>
              <a:spcBef>
                <a:spcPts val="0"/>
              </a:spcBef>
              <a:spcAft>
                <a:spcPts val="500"/>
              </a:spcAft>
              <a:defRPr sz="1500" b="0">
                <a:solidFill>
                  <a:srgbClr val="807164"/>
                </a:solidFill>
                <a:latin typeface="맑은 고딕"/>
              </a:defRPr>
            </a:pPr>
            <a:r>
              <a:t>공급가·투입량을 확보하지 못했다.</a:t>
            </a:r>
          </a:p>
        </p:txBody>
      </p:sp>
      <p:sp>
        <p:nvSpPr>
          <p:cNvPr id="13" name="Rounded Rectangle 12"/>
          <p:cNvSpPr/>
          <p:nvPr/>
        </p:nvSpPr>
        <p:spPr>
          <a:xfrm>
            <a:off x="4407407" y="2971800"/>
            <a:ext cx="3639312"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08575" y="3136392"/>
            <a:ext cx="3236976"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MEASURE</a:t>
            </a:r>
          </a:p>
        </p:txBody>
      </p:sp>
      <p:sp>
        <p:nvSpPr>
          <p:cNvPr id="15" name="TextBox 14"/>
          <p:cNvSpPr txBox="1"/>
          <p:nvPr/>
        </p:nvSpPr>
        <p:spPr>
          <a:xfrm>
            <a:off x="4608575" y="3584448"/>
            <a:ext cx="3236976"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동일 조건 구매</a:t>
            </a:r>
          </a:p>
        </p:txBody>
      </p:sp>
      <p:sp>
        <p:nvSpPr>
          <p:cNvPr id="16" name="TextBox 15"/>
          <p:cNvSpPr txBox="1"/>
          <p:nvPr/>
        </p:nvSpPr>
        <p:spPr>
          <a:xfrm>
            <a:off x="4608575" y="4480560"/>
            <a:ext cx="3236976"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같은 날 HOT 기본 메뉴 구매.</a:t>
            </a:r>
          </a:p>
          <a:p>
            <a:pPr>
              <a:spcBef>
                <a:spcPts val="0"/>
              </a:spcBef>
              <a:spcAft>
                <a:spcPts val="500"/>
              </a:spcAft>
              <a:defRPr sz="1500" b="0">
                <a:solidFill>
                  <a:srgbClr val="807164"/>
                </a:solidFill>
                <a:latin typeface="맑은 고딕"/>
              </a:defRPr>
            </a:pPr>
            <a:r>
              <a:t>영수증·실제 부피·온도를 기록한다.</a:t>
            </a:r>
          </a:p>
        </p:txBody>
      </p:sp>
      <p:sp>
        <p:nvSpPr>
          <p:cNvPr id="17" name="Rounded Rectangle 16"/>
          <p:cNvSpPr/>
          <p:nvPr/>
        </p:nvSpPr>
        <p:spPr>
          <a:xfrm>
            <a:off x="8266175" y="2971800"/>
            <a:ext cx="3639312" cy="2880360"/>
          </a:xfrm>
          <a:prstGeom prst="roundRect">
            <a:avLst>
              <a:gd name="adj" fmla="val 8000"/>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67344" y="3136392"/>
            <a:ext cx="3236976" cy="274320"/>
          </a:xfrm>
          <a:prstGeom prst="rect">
            <a:avLst/>
          </a:prstGeom>
          <a:noFill/>
        </p:spPr>
        <p:txBody>
          <a:bodyPr wrap="square" lIns="0" tIns="0" rIns="0" bIns="0">
            <a:spAutoFit/>
          </a:bodyPr>
          <a:lstStyle/>
          <a:p>
            <a:pPr>
              <a:spcBef>
                <a:spcPts val="0"/>
              </a:spcBef>
              <a:spcAft>
                <a:spcPts val="500"/>
              </a:spcAft>
              <a:defRPr sz="1000" b="1">
                <a:solidFill>
                  <a:srgbClr val="63765D"/>
                </a:solidFill>
                <a:latin typeface="Arial"/>
              </a:defRPr>
            </a:pPr>
            <a:r>
              <a:t>EXPERIMENT</a:t>
            </a:r>
          </a:p>
        </p:txBody>
      </p:sp>
      <p:sp>
        <p:nvSpPr>
          <p:cNvPr id="19" name="TextBox 18"/>
          <p:cNvSpPr txBox="1"/>
          <p:nvPr/>
        </p:nvSpPr>
        <p:spPr>
          <a:xfrm>
            <a:off x="8467344" y="3584448"/>
            <a:ext cx="3236976" cy="822960"/>
          </a:xfrm>
          <a:prstGeom prst="rect">
            <a:avLst/>
          </a:prstGeom>
          <a:noFill/>
        </p:spPr>
        <p:txBody>
          <a:bodyPr wrap="square" lIns="0" tIns="0" rIns="0" bIns="0">
            <a:spAutoFit/>
          </a:bodyPr>
          <a:lstStyle/>
          <a:p>
            <a:pPr>
              <a:spcBef>
                <a:spcPts val="0"/>
              </a:spcBef>
              <a:spcAft>
                <a:spcPts val="500"/>
              </a:spcAft>
              <a:defRPr sz="2300" b="1">
                <a:solidFill>
                  <a:srgbClr val="30231D"/>
                </a:solidFill>
                <a:latin typeface="맑은 고딕"/>
              </a:defRPr>
            </a:pPr>
            <a:r>
              <a:t>익명 코드 시음</a:t>
            </a:r>
          </a:p>
        </p:txBody>
      </p:sp>
      <p:sp>
        <p:nvSpPr>
          <p:cNvPr id="20" name="TextBox 19"/>
          <p:cNvSpPr txBox="1"/>
          <p:nvPr/>
        </p:nvSpPr>
        <p:spPr>
          <a:xfrm>
            <a:off x="8467344" y="4480560"/>
            <a:ext cx="3236976" cy="1234439"/>
          </a:xfrm>
          <a:prstGeom prst="rect">
            <a:avLst/>
          </a:prstGeom>
          <a:noFill/>
        </p:spPr>
        <p:txBody>
          <a:bodyPr wrap="square" lIns="0" tIns="0" rIns="0" bIns="0">
            <a:spAutoFit/>
          </a:bodyPr>
          <a:lstStyle/>
          <a:p>
            <a:pPr>
              <a:spcBef>
                <a:spcPts val="0"/>
              </a:spcBef>
              <a:spcAft>
                <a:spcPts val="500"/>
              </a:spcAft>
              <a:defRPr sz="1500" b="0">
                <a:solidFill>
                  <a:srgbClr val="807164"/>
                </a:solidFill>
                <a:latin typeface="맑은 고딕"/>
              </a:defRPr>
            </a:pPr>
            <a:r>
              <a:t>무작위 순서·동일 온도·반복 시음.</a:t>
            </a:r>
          </a:p>
          <a:p>
            <a:pPr>
              <a:spcBef>
                <a:spcPts val="0"/>
              </a:spcBef>
              <a:spcAft>
                <a:spcPts val="500"/>
              </a:spcAft>
              <a:defRPr sz="1500" b="0">
                <a:solidFill>
                  <a:srgbClr val="807164"/>
                </a:solidFill>
                <a:latin typeface="맑은 고딕"/>
              </a:defRPr>
            </a:pPr>
            <a:r>
              <a:t>선호와 향미 평가를 분리한다.</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par>
                          <p:cTn id="8" fill="hold">
                            <p:stCondLst>
                              <p:cond delay="275"/>
                            </p:stCondLst>
                            <p:childTnLst>
                              <p:par>
                                <p:cTn id="9" presetID="10" presetClass="entr" presetSubtype="0" fill="hold" grpId="0" nodeType="afterEffect">
                                  <p:stCondLst>
                                    <p:cond delay="2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50"/>
                            </p:stCondLst>
                            <p:childTnLst>
                              <p:par>
                                <p:cTn id="13" presetID="10" presetClass="entr" presetSubtype="0" fill="hold" grpId="0" nodeType="afterEffect">
                                  <p:stCondLst>
                                    <p:cond delay="25"/>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825"/>
                            </p:stCondLst>
                            <p:childTnLst>
                              <p:par>
                                <p:cTn id="17" presetID="10" presetClass="entr" presetSubtype="0" fill="hold" grpId="0" nodeType="afterEffect">
                                  <p:stCondLst>
                                    <p:cond delay="25"/>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100"/>
                            </p:stCondLst>
                            <p:childTnLst>
                              <p:par>
                                <p:cTn id="21" presetID="10" presetClass="entr" presetSubtype="0" fill="hold" grpId="0" nodeType="afterEffect">
                                  <p:stCondLst>
                                    <p:cond delay="25"/>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p:tgtEl>
                                          <p:spTgt spid="13"/>
                                        </p:tgtEl>
                                      </p:cBhvr>
                                    </p:animEffect>
                                  </p:childTnLst>
                                </p:cTn>
                              </p:par>
                            </p:childTnLst>
                          </p:cTn>
                        </p:par>
                        <p:par>
                          <p:cTn id="24" fill="hold">
                            <p:stCondLst>
                              <p:cond delay="1375"/>
                            </p:stCondLst>
                            <p:childTnLst>
                              <p:par>
                                <p:cTn id="25" presetID="10" presetClass="entr" presetSubtype="0" fill="hold" grpId="0" nodeType="afterEffect">
                                  <p:stCondLst>
                                    <p:cond delay="25"/>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par>
                          <p:cTn id="28" fill="hold">
                            <p:stCondLst>
                              <p:cond delay="1650"/>
                            </p:stCondLst>
                            <p:childTnLst>
                              <p:par>
                                <p:cTn id="29" presetID="10" presetClass="entr" presetSubtype="0" fill="hold" grpId="0" nodeType="afterEffect">
                                  <p:stCondLst>
                                    <p:cond delay="25"/>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50"/>
                                        <p:tgtEl>
                                          <p:spTgt spid="15"/>
                                        </p:tgtEl>
                                      </p:cBhvr>
                                    </p:animEffect>
                                  </p:childTnLst>
                                </p:cTn>
                              </p:par>
                            </p:childTnLst>
                          </p:cTn>
                        </p:par>
                        <p:par>
                          <p:cTn id="32" fill="hold">
                            <p:stCondLst>
                              <p:cond delay="1925"/>
                            </p:stCondLst>
                            <p:childTnLst>
                              <p:par>
                                <p:cTn id="33" presetID="10" presetClass="entr" presetSubtype="0" fill="hold" grpId="0" nodeType="afterEffect">
                                  <p:stCondLst>
                                    <p:cond delay="25"/>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200"/>
                            </p:stCondLst>
                            <p:childTnLst>
                              <p:par>
                                <p:cTn id="37" presetID="10" presetClass="entr" presetSubtype="0" fill="hold" grpId="0" nodeType="afterEffect">
                                  <p:stCondLst>
                                    <p:cond delay="25"/>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50"/>
                                        <p:tgtEl>
                                          <p:spTgt spid="17"/>
                                        </p:tgtEl>
                                      </p:cBhvr>
                                    </p:animEffect>
                                  </p:childTnLst>
                                </p:cTn>
                              </p:par>
                            </p:childTnLst>
                          </p:cTn>
                        </p:par>
                        <p:par>
                          <p:cTn id="40" fill="hold">
                            <p:stCondLst>
                              <p:cond delay="2475"/>
                            </p:stCondLst>
                            <p:childTnLst>
                              <p:par>
                                <p:cTn id="41" presetID="10" presetClass="entr" presetSubtype="0" fill="hold" grpId="0" nodeType="afterEffect">
                                  <p:stCondLst>
                                    <p:cond delay="25"/>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50"/>
                                        <p:tgtEl>
                                          <p:spTgt spid="18"/>
                                        </p:tgtEl>
                                      </p:cBhvr>
                                    </p:animEffect>
                                  </p:childTnLst>
                                </p:cTn>
                              </p:par>
                            </p:childTnLst>
                          </p:cTn>
                        </p:par>
                        <p:par>
                          <p:cTn id="44" fill="hold">
                            <p:stCondLst>
                              <p:cond delay="2750"/>
                            </p:stCondLst>
                            <p:childTnLst>
                              <p:par>
                                <p:cTn id="45" presetID="10" presetClass="entr" presetSubtype="0" fill="hold" grpId="0" nodeType="afterEffect">
                                  <p:stCondLst>
                                    <p:cond delay="25"/>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250"/>
                                        <p:tgtEl>
                                          <p:spTgt spid="19"/>
                                        </p:tgtEl>
                                      </p:cBhvr>
                                    </p:animEffect>
                                  </p:childTnLst>
                                </p:cTn>
                              </p:par>
                            </p:childTnLst>
                          </p:cTn>
                        </p:par>
                        <p:par>
                          <p:cTn id="48" fill="hold">
                            <p:stCondLst>
                              <p:cond delay="3025"/>
                            </p:stCondLst>
                            <p:childTnLst>
                              <p:par>
                                <p:cTn id="49" presetID="10" presetClass="entr" presetSubtype="0" fill="hold" grpId="0" nodeType="afterEffect">
                                  <p:stCondLst>
                                    <p:cond delay="25"/>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p:bldP spid="13" grpId="0" animBg="1"/>
      <p:bldP spid="14" grpId="0"/>
      <p:bldP spid="15" grpId="0"/>
      <p:bldP spid="16" grpId="0"/>
      <p:bldP spid="17" grpId="0" animBg="1"/>
      <p:bldP spid="18" grpId="0"/>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FE6"/>
        </a:solidFill>
        <a:effectLst/>
      </p:bgPr>
    </p:bg>
    <p:spTree>
      <p:nvGrpSpPr>
        <p:cNvPr id="1" name=""/>
        <p:cNvGrpSpPr/>
        <p:nvPr/>
      </p:nvGrpSpPr>
      <p:grpSpPr>
        <a:xfrm>
          <a:off x="0" y="0"/>
          <a:ext cx="0" cy="0"/>
          <a:chOff x="0" y="0"/>
          <a:chExt cx="0" cy="0"/>
        </a:xfrm>
      </p:grpSpPr>
      <p:sp>
        <p:nvSpPr>
          <p:cNvPr id="2" name="TextBox 1"/>
          <p:cNvSpPr txBox="1"/>
          <p:nvPr/>
        </p:nvSpPr>
        <p:spPr>
          <a:xfrm>
            <a:off x="502920" y="265176"/>
            <a:ext cx="5486400" cy="274320"/>
          </a:xfrm>
          <a:prstGeom prst="rect">
            <a:avLst/>
          </a:prstGeom>
          <a:noFill/>
        </p:spPr>
        <p:txBody>
          <a:bodyPr wrap="square" lIns="0" tIns="0" rIns="0" bIns="0">
            <a:spAutoFit/>
          </a:bodyPr>
          <a:lstStyle/>
          <a:p>
            <a:pPr>
              <a:spcBef>
                <a:spcPts val="0"/>
              </a:spcBef>
              <a:spcAft>
                <a:spcPts val="500"/>
              </a:spcAft>
              <a:defRPr sz="900" b="1">
                <a:solidFill>
                  <a:srgbClr val="807164"/>
                </a:solidFill>
                <a:latin typeface="Arial"/>
              </a:defRPr>
            </a:pPr>
            <a:r>
              <a:t>COFFEE / EVIDENCE / VALUE</a:t>
            </a:r>
          </a:p>
        </p:txBody>
      </p:sp>
      <p:sp>
        <p:nvSpPr>
          <p:cNvPr id="3" name="TextBox 2"/>
          <p:cNvSpPr txBox="1"/>
          <p:nvPr/>
        </p:nvSpPr>
        <p:spPr>
          <a:xfrm>
            <a:off x="502920" y="777240"/>
            <a:ext cx="10881360" cy="320040"/>
          </a:xfrm>
          <a:prstGeom prst="rect">
            <a:avLst/>
          </a:prstGeom>
          <a:noFill/>
        </p:spPr>
        <p:txBody>
          <a:bodyPr wrap="square" lIns="0" tIns="0" rIns="0" bIns="0">
            <a:spAutoFit/>
          </a:bodyPr>
          <a:lstStyle/>
          <a:p>
            <a:pPr>
              <a:spcBef>
                <a:spcPts val="0"/>
              </a:spcBef>
              <a:spcAft>
                <a:spcPts val="500"/>
              </a:spcAft>
              <a:defRPr sz="1100" b="1">
                <a:solidFill>
                  <a:srgbClr val="63765D"/>
                </a:solidFill>
                <a:latin typeface="Arial"/>
              </a:defRPr>
            </a:pPr>
            <a:r>
              <a:t>12 / SOURCES &amp; REPRODUCIBILITY</a:t>
            </a:r>
          </a:p>
        </p:txBody>
      </p:sp>
      <p:sp>
        <p:nvSpPr>
          <p:cNvPr id="4" name="TextBox 3"/>
          <p:cNvSpPr txBox="1"/>
          <p:nvPr/>
        </p:nvSpPr>
        <p:spPr>
          <a:xfrm>
            <a:off x="502920" y="1170432"/>
            <a:ext cx="11064240" cy="1078992"/>
          </a:xfrm>
          <a:prstGeom prst="rect">
            <a:avLst/>
          </a:prstGeom>
          <a:noFill/>
        </p:spPr>
        <p:txBody>
          <a:bodyPr wrap="square" lIns="0" tIns="0" rIns="0" bIns="0">
            <a:spAutoFit/>
          </a:bodyPr>
          <a:lstStyle/>
          <a:p>
            <a:pPr>
              <a:spcBef>
                <a:spcPts val="0"/>
              </a:spcBef>
              <a:spcAft>
                <a:spcPts val="500"/>
              </a:spcAft>
              <a:defRPr sz="3200" b="1">
                <a:solidFill>
                  <a:srgbClr val="30231D"/>
                </a:solidFill>
                <a:latin typeface="맑은 고딕"/>
              </a:defRPr>
            </a:pPr>
            <a:r>
              <a:t>출처를 따라가면 같은 분석을 다시 만들 수 있다.</a:t>
            </a:r>
          </a:p>
        </p:txBody>
      </p:sp>
      <p:sp>
        <p:nvSpPr>
          <p:cNvPr id="5" name="TextBox 4"/>
          <p:cNvSpPr txBox="1"/>
          <p:nvPr/>
        </p:nvSpPr>
        <p:spPr>
          <a:xfrm>
            <a:off x="530352" y="2148840"/>
            <a:ext cx="10972800" cy="594360"/>
          </a:xfrm>
          <a:prstGeom prst="rect">
            <a:avLst/>
          </a:prstGeom>
          <a:noFill/>
        </p:spPr>
        <p:txBody>
          <a:bodyPr wrap="square" lIns="0" tIns="0" rIns="0" bIns="0">
            <a:spAutoFit/>
          </a:bodyPr>
          <a:lstStyle/>
          <a:p>
            <a:pPr>
              <a:spcBef>
                <a:spcPts val="0"/>
              </a:spcBef>
              <a:spcAft>
                <a:spcPts val="500"/>
              </a:spcAft>
              <a:defRPr sz="1400" b="0">
                <a:solidFill>
                  <a:srgbClr val="807164"/>
                </a:solidFill>
                <a:latin typeface="맑은 고딕"/>
              </a:defRPr>
            </a:pPr>
            <a:r>
              <a:t>주요 출처 링크 · 전체 출처와 필드별 근거는 sources.csv·facts.csv·발표 노트에 보존</a:t>
            </a:r>
          </a:p>
        </p:txBody>
      </p:sp>
      <p:sp>
        <p:nvSpPr>
          <p:cNvPr id="6" name="Rectangle 5"/>
          <p:cNvSpPr/>
          <p:nvPr/>
        </p:nvSpPr>
        <p:spPr>
          <a:xfrm>
            <a:off x="502920" y="6345936"/>
            <a:ext cx="11155680" cy="10972"/>
          </a:xfrm>
          <a:prstGeom prst="rect">
            <a:avLst/>
          </a:prstGeom>
          <a:solidFill>
            <a:srgbClr val="CFC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73952"/>
            <a:ext cx="10515600" cy="219456"/>
          </a:xfrm>
          <a:prstGeom prst="rect">
            <a:avLst/>
          </a:prstGeom>
          <a:noFill/>
        </p:spPr>
        <p:txBody>
          <a:bodyPr wrap="square" lIns="0" tIns="0" rIns="0" bIns="0">
            <a:spAutoFit/>
          </a:bodyPr>
          <a:lstStyle/>
          <a:p>
            <a:pPr>
              <a:spcBef>
                <a:spcPts val="0"/>
              </a:spcBef>
              <a:spcAft>
                <a:spcPts val="500"/>
              </a:spcAft>
              <a:defRPr sz="850" b="0">
                <a:solidFill>
                  <a:srgbClr val="807164"/>
                </a:solidFill>
                <a:latin typeface="맑은 고딕"/>
              </a:defRPr>
            </a:pPr>
            <a:r>
              <a:t>수집일 2026.10.18 | 공식 소개 자료 게시일 미표기 다수 | 가격 보도 2025.01–05 · 일부 매장 적용일 미확인</a:t>
            </a:r>
          </a:p>
        </p:txBody>
      </p:sp>
      <p:sp>
        <p:nvSpPr>
          <p:cNvPr id="8" name="TextBox 7"/>
          <p:cNvSpPr txBox="1"/>
          <p:nvPr/>
        </p:nvSpPr>
        <p:spPr>
          <a:xfrm>
            <a:off x="10972800" y="6464808"/>
            <a:ext cx="713232" cy="274320"/>
          </a:xfrm>
          <a:prstGeom prst="rect">
            <a:avLst/>
          </a:prstGeom>
          <a:noFill/>
        </p:spPr>
        <p:txBody>
          <a:bodyPr wrap="square" lIns="0" tIns="0" rIns="0" bIns="0">
            <a:spAutoFit/>
          </a:bodyPr>
          <a:lstStyle/>
          <a:p>
            <a:pPr algn="r">
              <a:spcBef>
                <a:spcPts val="0"/>
              </a:spcBef>
              <a:spcAft>
                <a:spcPts val="500"/>
              </a:spcAft>
              <a:defRPr sz="900" b="1">
                <a:solidFill>
                  <a:srgbClr val="30231D"/>
                </a:solidFill>
                <a:latin typeface="Arial"/>
              </a:defRPr>
            </a:pPr>
            <a:r>
              <a:t>13 / 13</a:t>
            </a:r>
          </a:p>
        </p:txBody>
      </p:sp>
      <p:sp>
        <p:nvSpPr>
          <p:cNvPr id="9" name="TextBox 8"/>
          <p:cNvSpPr txBox="1"/>
          <p:nvPr/>
        </p:nvSpPr>
        <p:spPr>
          <a:xfrm>
            <a:off x="594360" y="2770632"/>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3"/>
              </a:rPr>
              <a:t>[S01] 스타벅스 · 공식 홈페이지</a:t>
            </a:r>
          </a:p>
        </p:txBody>
      </p:sp>
      <p:sp>
        <p:nvSpPr>
          <p:cNvPr id="10" name="TextBox 9"/>
          <p:cNvSpPr txBox="1"/>
          <p:nvPr/>
        </p:nvSpPr>
        <p:spPr>
          <a:xfrm>
            <a:off x="594360" y="3008376"/>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www.starbucks.co.kr/coffee/story.do</a:t>
            </a:r>
          </a:p>
        </p:txBody>
      </p:sp>
      <p:sp>
        <p:nvSpPr>
          <p:cNvPr id="11" name="TextBox 10"/>
          <p:cNvSpPr txBox="1"/>
          <p:nvPr/>
        </p:nvSpPr>
        <p:spPr>
          <a:xfrm>
            <a:off x="594360" y="3218687"/>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4"/>
              </a:rPr>
              <a:t>[S02] 스타벅스 · 공식 제품 자료</a:t>
            </a:r>
          </a:p>
        </p:txBody>
      </p:sp>
      <p:sp>
        <p:nvSpPr>
          <p:cNvPr id="12" name="TextBox 11"/>
          <p:cNvSpPr txBox="1"/>
          <p:nvPr/>
        </p:nvSpPr>
        <p:spPr>
          <a:xfrm>
            <a:off x="594360" y="3456431"/>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www.starbucks.co.kr/coffee/product_view.do</a:t>
            </a:r>
          </a:p>
        </p:txBody>
      </p:sp>
      <p:sp>
        <p:nvSpPr>
          <p:cNvPr id="13" name="TextBox 12"/>
          <p:cNvSpPr txBox="1"/>
          <p:nvPr/>
        </p:nvSpPr>
        <p:spPr>
          <a:xfrm>
            <a:off x="594360" y="3666744"/>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5"/>
              </a:rPr>
              <a:t>[S06] 투썸플레이스 · 공식 홈페이지</a:t>
            </a:r>
          </a:p>
        </p:txBody>
      </p:sp>
      <p:sp>
        <p:nvSpPr>
          <p:cNvPr id="14" name="TextBox 13"/>
          <p:cNvSpPr txBox="1"/>
          <p:nvPr/>
        </p:nvSpPr>
        <p:spPr>
          <a:xfrm>
            <a:off x="594360" y="3904487"/>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www.twosome.co.kr/mn/coffeeStory.do</a:t>
            </a:r>
          </a:p>
        </p:txBody>
      </p:sp>
      <p:sp>
        <p:nvSpPr>
          <p:cNvPr id="15" name="TextBox 14"/>
          <p:cNvSpPr txBox="1"/>
          <p:nvPr/>
        </p:nvSpPr>
        <p:spPr>
          <a:xfrm>
            <a:off x="594360" y="4114800"/>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6"/>
              </a:rPr>
              <a:t>[S13] 텐퍼센트커피 · 공식 홈페이지</a:t>
            </a:r>
          </a:p>
        </p:txBody>
      </p:sp>
      <p:sp>
        <p:nvSpPr>
          <p:cNvPr id="16" name="TextBox 15"/>
          <p:cNvSpPr txBox="1"/>
          <p:nvPr/>
        </p:nvSpPr>
        <p:spPr>
          <a:xfrm>
            <a:off x="594360" y="4352544"/>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www.tenpercentcoffee.com/sub/sub11.php</a:t>
            </a:r>
          </a:p>
        </p:txBody>
      </p:sp>
      <p:sp>
        <p:nvSpPr>
          <p:cNvPr id="17" name="TextBox 16"/>
          <p:cNvSpPr txBox="1"/>
          <p:nvPr/>
        </p:nvSpPr>
        <p:spPr>
          <a:xfrm>
            <a:off x="594360" y="4562856"/>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7"/>
              </a:rPr>
              <a:t>[S24] 빽다방 · 공식 창업 안내</a:t>
            </a:r>
          </a:p>
        </p:txBody>
      </p:sp>
      <p:sp>
        <p:nvSpPr>
          <p:cNvPr id="18" name="TextBox 17"/>
          <p:cNvSpPr txBox="1"/>
          <p:nvPr/>
        </p:nvSpPr>
        <p:spPr>
          <a:xfrm>
            <a:off x="594360" y="4800600"/>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start.theborn.co.kr/m/paikdabang</a:t>
            </a:r>
          </a:p>
        </p:txBody>
      </p:sp>
      <p:sp>
        <p:nvSpPr>
          <p:cNvPr id="19" name="TextBox 18"/>
          <p:cNvSpPr txBox="1"/>
          <p:nvPr/>
        </p:nvSpPr>
        <p:spPr>
          <a:xfrm>
            <a:off x="594360" y="5010912"/>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8"/>
              </a:rPr>
              <a:t>[S25] 빽다방 · 현장 취재(데일리안)</a:t>
            </a:r>
          </a:p>
        </p:txBody>
      </p:sp>
      <p:sp>
        <p:nvSpPr>
          <p:cNvPr id="20" name="TextBox 19"/>
          <p:cNvSpPr txBox="1"/>
          <p:nvPr/>
        </p:nvSpPr>
        <p:spPr>
          <a:xfrm>
            <a:off x="594360" y="5248656"/>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v.daum.net/v/20260601080101122</a:t>
            </a:r>
          </a:p>
        </p:txBody>
      </p:sp>
      <p:sp>
        <p:nvSpPr>
          <p:cNvPr id="21" name="TextBox 20"/>
          <p:cNvSpPr txBox="1"/>
          <p:nvPr/>
        </p:nvSpPr>
        <p:spPr>
          <a:xfrm>
            <a:off x="594360" y="5458968"/>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9"/>
              </a:rPr>
              <a:t>[S26] 빽다방·컴포즈커피 · 취재 기사(아이뉴스24)</a:t>
            </a:r>
          </a:p>
        </p:txBody>
      </p:sp>
      <p:sp>
        <p:nvSpPr>
          <p:cNvPr id="22" name="TextBox 21"/>
          <p:cNvSpPr txBox="1"/>
          <p:nvPr/>
        </p:nvSpPr>
        <p:spPr>
          <a:xfrm>
            <a:off x="594360" y="5696712"/>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v.daum.net/v/3zKNh7Rfl4</a:t>
            </a:r>
          </a:p>
        </p:txBody>
      </p:sp>
      <p:sp>
        <p:nvSpPr>
          <p:cNvPr id="23" name="TextBox 22"/>
          <p:cNvSpPr txBox="1"/>
          <p:nvPr/>
        </p:nvSpPr>
        <p:spPr>
          <a:xfrm>
            <a:off x="6446520" y="2770632"/>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0"/>
              </a:rPr>
              <a:t>[S27] 컴포즈커피 · 기업 홍보 인터뷰(NYF K-NBA)</a:t>
            </a:r>
          </a:p>
        </p:txBody>
      </p:sp>
      <p:sp>
        <p:nvSpPr>
          <p:cNvPr id="24" name="TextBox 23"/>
          <p:cNvSpPr txBox="1"/>
          <p:nvPr/>
        </p:nvSpPr>
        <p:spPr>
          <a:xfrm>
            <a:off x="6446520" y="3008376"/>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nyfknba.com/blog/compose-coffee-interview-2026/</a:t>
            </a:r>
          </a:p>
        </p:txBody>
      </p:sp>
      <p:sp>
        <p:nvSpPr>
          <p:cNvPr id="25" name="TextBox 24"/>
          <p:cNvSpPr txBox="1"/>
          <p:nvPr/>
        </p:nvSpPr>
        <p:spPr>
          <a:xfrm>
            <a:off x="6446520" y="3218687"/>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1"/>
              </a:rPr>
              <a:t>[S28] 폴 바셋 · 공식 원두 납품 안내</a:t>
            </a:r>
          </a:p>
        </p:txBody>
      </p:sp>
      <p:sp>
        <p:nvSpPr>
          <p:cNvPr id="26" name="TextBox 25"/>
          <p:cNvSpPr txBox="1"/>
          <p:nvPr/>
        </p:nvSpPr>
        <p:spPr>
          <a:xfrm>
            <a:off x="6446520" y="3456431"/>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www.baristapaulbassett.co.kr/contactus/coffeebeans/Signature.pb</a:t>
            </a:r>
          </a:p>
        </p:txBody>
      </p:sp>
      <p:sp>
        <p:nvSpPr>
          <p:cNvPr id="27" name="TextBox 26"/>
          <p:cNvSpPr txBox="1"/>
          <p:nvPr/>
        </p:nvSpPr>
        <p:spPr>
          <a:xfrm>
            <a:off x="6446520" y="3666744"/>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2"/>
              </a:rPr>
              <a:t>[S29] 폴 바셋 · 공식 브랜드 원칙</a:t>
            </a:r>
          </a:p>
        </p:txBody>
      </p:sp>
      <p:sp>
        <p:nvSpPr>
          <p:cNvPr id="28" name="TextBox 27"/>
          <p:cNvSpPr txBox="1"/>
          <p:nvPr/>
        </p:nvSpPr>
        <p:spPr>
          <a:xfrm>
            <a:off x="6446520" y="3904487"/>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www.baristapaulbassett.co.kr/aboutus/brand/Principles.pb</a:t>
            </a:r>
          </a:p>
        </p:txBody>
      </p:sp>
      <p:sp>
        <p:nvSpPr>
          <p:cNvPr id="29" name="TextBox 28"/>
          <p:cNvSpPr txBox="1"/>
          <p:nvPr/>
        </p:nvSpPr>
        <p:spPr>
          <a:xfrm>
            <a:off x="6446520" y="4114800"/>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3"/>
              </a:rPr>
              <a:t>[S30] 폴 바셋 · 공식 HOT 메뉴</a:t>
            </a:r>
          </a:p>
        </p:txBody>
      </p:sp>
      <p:sp>
        <p:nvSpPr>
          <p:cNvPr id="30" name="TextBox 29"/>
          <p:cNvSpPr txBox="1"/>
          <p:nvPr/>
        </p:nvSpPr>
        <p:spPr>
          <a:xfrm>
            <a:off x="6446520" y="4352544"/>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www.baristapaulbassett.co.kr/menu/View.pb</a:t>
            </a:r>
          </a:p>
        </p:txBody>
      </p:sp>
      <p:sp>
        <p:nvSpPr>
          <p:cNvPr id="31" name="TextBox 30"/>
          <p:cNvSpPr txBox="1"/>
          <p:nvPr/>
        </p:nvSpPr>
        <p:spPr>
          <a:xfrm>
            <a:off x="6446520" y="4562856"/>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4"/>
              </a:rPr>
              <a:t>[S31] 폴 바셋 · 교환권 유통(11번가)</a:t>
            </a:r>
          </a:p>
        </p:txBody>
      </p:sp>
      <p:sp>
        <p:nvSpPr>
          <p:cNvPr id="32" name="TextBox 31"/>
          <p:cNvSpPr txBox="1"/>
          <p:nvPr/>
        </p:nvSpPr>
        <p:spPr>
          <a:xfrm>
            <a:off x="6446520" y="4800600"/>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www.11st.co.kr/products/7996618616</a:t>
            </a:r>
          </a:p>
        </p:txBody>
      </p:sp>
      <p:sp>
        <p:nvSpPr>
          <p:cNvPr id="33" name="TextBox 32"/>
          <p:cNvSpPr txBox="1"/>
          <p:nvPr/>
        </p:nvSpPr>
        <p:spPr>
          <a:xfrm>
            <a:off x="6446520" y="5010912"/>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5"/>
              </a:rPr>
              <a:t>[S12] 빽다방 · 언론(뉴스핌)</a:t>
            </a:r>
          </a:p>
        </p:txBody>
      </p:sp>
      <p:sp>
        <p:nvSpPr>
          <p:cNvPr id="34" name="TextBox 33"/>
          <p:cNvSpPr txBox="1"/>
          <p:nvPr/>
        </p:nvSpPr>
        <p:spPr>
          <a:xfrm>
            <a:off x="6446520" y="5248656"/>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www.newspim.com/news/view/20250515000251</a:t>
            </a:r>
          </a:p>
        </p:txBody>
      </p:sp>
      <p:sp>
        <p:nvSpPr>
          <p:cNvPr id="35" name="TextBox 34"/>
          <p:cNvSpPr txBox="1"/>
          <p:nvPr/>
        </p:nvSpPr>
        <p:spPr>
          <a:xfrm>
            <a:off x="6446520" y="5458968"/>
            <a:ext cx="5303520" cy="265176"/>
          </a:xfrm>
          <a:prstGeom prst="rect">
            <a:avLst/>
          </a:prstGeom>
          <a:noFill/>
        </p:spPr>
        <p:txBody>
          <a:bodyPr wrap="square" lIns="0" tIns="0" rIns="0" bIns="0">
            <a:spAutoFit/>
          </a:bodyPr>
          <a:lstStyle/>
          <a:p>
            <a:pPr>
              <a:spcBef>
                <a:spcPts val="0"/>
              </a:spcBef>
              <a:spcAft>
                <a:spcPts val="500"/>
              </a:spcAft>
              <a:defRPr sz="1100" b="1">
                <a:solidFill>
                  <a:srgbClr val="30231D"/>
                </a:solidFill>
                <a:latin typeface="맑은 고딕"/>
              </a:defRPr>
            </a:pPr>
            <a:r>
              <a:rPr>
                <a:hlinkClick r:id="rId16"/>
              </a:rPr>
              <a:t>[S17] 컴포즈커피 · 언론(한국경제)</a:t>
            </a:r>
          </a:p>
        </p:txBody>
      </p:sp>
      <p:sp>
        <p:nvSpPr>
          <p:cNvPr id="36" name="TextBox 35"/>
          <p:cNvSpPr txBox="1"/>
          <p:nvPr/>
        </p:nvSpPr>
        <p:spPr>
          <a:xfrm>
            <a:off x="6446520" y="5696712"/>
            <a:ext cx="5303520" cy="182880"/>
          </a:xfrm>
          <a:prstGeom prst="rect">
            <a:avLst/>
          </a:prstGeom>
          <a:noFill/>
        </p:spPr>
        <p:txBody>
          <a:bodyPr wrap="square" lIns="0" tIns="0" rIns="0" bIns="0">
            <a:spAutoFit/>
          </a:bodyPr>
          <a:lstStyle/>
          <a:p>
            <a:pPr>
              <a:spcBef>
                <a:spcPts val="0"/>
              </a:spcBef>
              <a:spcAft>
                <a:spcPts val="500"/>
              </a:spcAft>
              <a:defRPr sz="800" b="0">
                <a:solidFill>
                  <a:srgbClr val="807164"/>
                </a:solidFill>
                <a:latin typeface="맑은 고딕"/>
              </a:defRPr>
            </a:pPr>
            <a:r>
              <a:t>www.hankyung.com/article/202502039855g</a:t>
            </a:r>
          </a:p>
        </p:txBody>
      </p:sp>
    </p:spTree>
  </p:cSld>
  <p:clrMapOvr>
    <a:masterClrMapping/>
  </p:clrMapOvr>
  <mc:AlternateContent xmlns:mc="http://schemas.openxmlformats.org/markup-compatibility/2006">
    <mc:Choice xmlns:p14="http://schemas.microsoft.com/office/powerpoint/2010/main" Requires="p14">
      <p:transition spd="slow" p14:dur="2000">
        <p:fade thruBlk="1"/>
      </p:transition>
    </mc:Choice>
    <mc:Fallback>
      <p:transition spd="slow">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5307</Words>
  <Application>Microsoft Office PowerPoint</Application>
  <PresentationFormat>와이드스크린</PresentationFormat>
  <Paragraphs>458</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6"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비싼 커피는 정말 더 좋은 원두를 사용할까?</dc:title>
  <dc:subject>한국 6개 카페 프랜차이즈 공개 자료 분석</dc:subject>
  <dc:creator>Coffee Editorial / Data Literacy</dc:creator>
  <cp:keywords>실제 웹 수집, Firecrawl, 공개 정보, HOT 아메리카노</cp:keywords>
  <dc:description>generated using python-pptx</dc:description>
  <cp:lastModifiedBy>현욱 안</cp:lastModifiedBy>
  <cp:revision>2</cp:revision>
  <dcterms:created xsi:type="dcterms:W3CDTF">2013-01-27T09:14:16Z</dcterms:created>
  <dcterms:modified xsi:type="dcterms:W3CDTF">2026-10-18T10:43:49Z</dcterms:modified>
  <cp:category/>
</cp:coreProperties>
</file>